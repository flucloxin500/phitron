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arcellus" panose="020B0604020202020204" charset="0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2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Polynomial Regression: Extending Linear Models</a:t>
            </a:r>
            <a:endParaRPr sz="5100" b="0" i="0" u="none" strike="noStrike" cap="none"/>
          </a:p>
        </p:txBody>
      </p:sp>
      <p:sp>
        <p:nvSpPr>
          <p:cNvPr id="45" name="Google Shape;45;p12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Discovering how to model complex, non-linear relationships in data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93790" y="2746891"/>
            <a:ext cx="8485703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Problem Does It Solve?</a:t>
            </a:r>
            <a:endParaRPr sz="5100" b="0" i="0" u="none" strike="noStrike" cap="none"/>
          </a:p>
        </p:txBody>
      </p:sp>
      <p:sp>
        <p:nvSpPr>
          <p:cNvPr id="52" name="Google Shape;52;p13"/>
          <p:cNvSpPr/>
          <p:nvPr/>
        </p:nvSpPr>
        <p:spPr>
          <a:xfrm>
            <a:off x="793790" y="404824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assumes a straight-line relationship between variables, but real-world data often follows curved patterns. When your data bends and curves, a straight line simply won't capture the true relationship.</a:t>
            </a:r>
            <a:endParaRPr sz="1750" b="0" i="0" u="none" strike="noStrike" cap="none"/>
          </a:p>
        </p:txBody>
      </p:sp>
      <p:sp>
        <p:nvSpPr>
          <p:cNvPr id="53" name="Google Shape;53;p13"/>
          <p:cNvSpPr/>
          <p:nvPr/>
        </p:nvSpPr>
        <p:spPr>
          <a:xfrm>
            <a:off x="793790" y="489299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Polynomial regression extends linear models to handle these curved relationships while maintaining mathematical simplicity and interpretability.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77942" y="532686"/>
            <a:ext cx="9630608" cy="72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350"/>
              <a:buFont typeface="Marcellus"/>
              <a:buNone/>
            </a:pPr>
            <a:r>
              <a:rPr lang="en-US" sz="435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Example: Hours Studied vs Exam Score</a:t>
            </a:r>
            <a:endParaRPr sz="4350" b="0" i="0" u="none" strike="noStrike" cap="none"/>
          </a:p>
        </p:txBody>
      </p:sp>
      <p:sp>
        <p:nvSpPr>
          <p:cNvPr id="60" name="Google Shape;60;p14"/>
          <p:cNvSpPr/>
          <p:nvPr/>
        </p:nvSpPr>
        <p:spPr>
          <a:xfrm>
            <a:off x="677942" y="1644134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Imagine you collect this data from your class:</a:t>
            </a:r>
            <a:endParaRPr sz="1500" b="0" i="0" u="none" strike="noStrike" cap="none"/>
          </a:p>
        </p:txBody>
      </p:sp>
      <p:sp>
        <p:nvSpPr>
          <p:cNvPr id="61" name="Google Shape;61;p14"/>
          <p:cNvSpPr/>
          <p:nvPr/>
        </p:nvSpPr>
        <p:spPr>
          <a:xfrm>
            <a:off x="677942" y="2113836"/>
            <a:ext cx="13274516" cy="4010977"/>
          </a:xfrm>
          <a:prstGeom prst="roundRect">
            <a:avLst>
              <a:gd name="adj" fmla="val 2028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85562" y="2121456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879277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Hours Studied</a:t>
            </a:r>
            <a:endParaRPr sz="1500" b="0" i="0" u="none" strike="noStrike" cap="none"/>
          </a:p>
        </p:txBody>
      </p:sp>
      <p:sp>
        <p:nvSpPr>
          <p:cNvPr id="64" name="Google Shape;64;p14"/>
          <p:cNvSpPr/>
          <p:nvPr/>
        </p:nvSpPr>
        <p:spPr>
          <a:xfrm>
            <a:off x="7512725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Exam Score</a:t>
            </a:r>
            <a:endParaRPr sz="1500" b="0" i="0" u="none" strike="noStrike" cap="none"/>
          </a:p>
        </p:txBody>
      </p:sp>
      <p:sp>
        <p:nvSpPr>
          <p:cNvPr id="65" name="Google Shape;65;p14"/>
          <p:cNvSpPr/>
          <p:nvPr/>
        </p:nvSpPr>
        <p:spPr>
          <a:xfrm>
            <a:off x="685562" y="2620923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79277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500" b="0" i="0" u="none" strike="noStrike" cap="none"/>
          </a:p>
        </p:txBody>
      </p:sp>
      <p:sp>
        <p:nvSpPr>
          <p:cNvPr id="67" name="Google Shape;67;p14"/>
          <p:cNvSpPr/>
          <p:nvPr/>
        </p:nvSpPr>
        <p:spPr>
          <a:xfrm>
            <a:off x="7512725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r>
            <a:endParaRPr sz="1500" b="0" i="0" u="none" strike="noStrike" cap="none"/>
          </a:p>
        </p:txBody>
      </p:sp>
      <p:sp>
        <p:nvSpPr>
          <p:cNvPr id="68" name="Google Shape;68;p14"/>
          <p:cNvSpPr/>
          <p:nvPr/>
        </p:nvSpPr>
        <p:spPr>
          <a:xfrm>
            <a:off x="685562" y="3120390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879277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50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7512725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r>
            <a:endParaRPr sz="150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685562" y="3619857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879277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500" b="0" i="0" u="none" strike="noStrike" cap="none"/>
          </a:p>
        </p:txBody>
      </p:sp>
      <p:sp>
        <p:nvSpPr>
          <p:cNvPr id="73" name="Google Shape;73;p14"/>
          <p:cNvSpPr/>
          <p:nvPr/>
        </p:nvSpPr>
        <p:spPr>
          <a:xfrm>
            <a:off x="7512725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r>
            <a:endParaRPr sz="1500" b="0" i="0" u="none" strike="noStrike" cap="none"/>
          </a:p>
        </p:txBody>
      </p:sp>
      <p:sp>
        <p:nvSpPr>
          <p:cNvPr id="74" name="Google Shape;74;p14"/>
          <p:cNvSpPr/>
          <p:nvPr/>
        </p:nvSpPr>
        <p:spPr>
          <a:xfrm>
            <a:off x="685562" y="4119324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879277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5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7512725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r>
            <a:endParaRPr sz="1500" b="0" i="0" u="none" strike="noStrike" cap="none"/>
          </a:p>
        </p:txBody>
      </p:sp>
      <p:sp>
        <p:nvSpPr>
          <p:cNvPr id="77" name="Google Shape;77;p14"/>
          <p:cNvSpPr/>
          <p:nvPr/>
        </p:nvSpPr>
        <p:spPr>
          <a:xfrm>
            <a:off x="685562" y="4618792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879277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500" b="0" i="0" u="none" strike="noStrike" cap="none"/>
          </a:p>
        </p:txBody>
      </p:sp>
      <p:sp>
        <p:nvSpPr>
          <p:cNvPr id="79" name="Google Shape;79;p14"/>
          <p:cNvSpPr/>
          <p:nvPr/>
        </p:nvSpPr>
        <p:spPr>
          <a:xfrm>
            <a:off x="7512725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r>
            <a:endParaRPr sz="150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685562" y="5118259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79277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500" b="0" i="0" u="none" strike="noStrike" cap="none"/>
          </a:p>
        </p:txBody>
      </p:sp>
      <p:sp>
        <p:nvSpPr>
          <p:cNvPr id="82" name="Google Shape;82;p14"/>
          <p:cNvSpPr/>
          <p:nvPr/>
        </p:nvSpPr>
        <p:spPr>
          <a:xfrm>
            <a:off x="7512725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r>
            <a:endParaRPr sz="1500" b="0" i="0" u="none" strike="noStrike" cap="none"/>
          </a:p>
        </p:txBody>
      </p:sp>
      <p:sp>
        <p:nvSpPr>
          <p:cNvPr id="83" name="Google Shape;83;p14"/>
          <p:cNvSpPr/>
          <p:nvPr/>
        </p:nvSpPr>
        <p:spPr>
          <a:xfrm>
            <a:off x="685562" y="5617726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79277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1500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7512725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r>
            <a:endParaRPr sz="1500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677942" y="6342698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If you plot these points, the pattern looks like this:</a:t>
            </a:r>
            <a:endParaRPr sz="1500" b="0" i="0" u="none" strike="noStrike" cap="none"/>
          </a:p>
        </p:txBody>
      </p:sp>
      <p:sp>
        <p:nvSpPr>
          <p:cNvPr id="87" name="Google Shape;87;p14"/>
          <p:cNvSpPr/>
          <p:nvPr/>
        </p:nvSpPr>
        <p:spPr>
          <a:xfrm>
            <a:off x="677942" y="6812399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 first, each extra hour gives a big jump in marks</a:t>
            </a:r>
            <a:endParaRPr sz="1500" b="0" i="0" u="none" strike="noStrike" cap="none"/>
          </a:p>
        </p:txBody>
      </p:sp>
      <p:sp>
        <p:nvSpPr>
          <p:cNvPr id="88" name="Google Shape;88;p14"/>
          <p:cNvSpPr/>
          <p:nvPr/>
        </p:nvSpPr>
        <p:spPr>
          <a:xfrm>
            <a:off x="677942" y="7131963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Later, extra hours give only a tiny improvement</a:t>
            </a:r>
            <a:endParaRPr sz="1500" b="0" i="0" u="none" strike="noStrike" cap="none"/>
          </a:p>
        </p:txBody>
      </p:sp>
      <p:sp>
        <p:nvSpPr>
          <p:cNvPr id="89" name="Google Shape;89;p14"/>
          <p:cNvSpPr/>
          <p:nvPr/>
        </p:nvSpPr>
        <p:spPr>
          <a:xfrm>
            <a:off x="677942" y="7451527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lang="en-US" sz="150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creates a curved, flattening pattern, not a straight-line relationship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93790" y="796647"/>
            <a:ext cx="9199007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Linear vs Polynomial Regression</a:t>
            </a:r>
            <a:endParaRPr sz="5100" b="0" i="0" u="none" strike="noStrike" cap="none"/>
          </a:p>
        </p:txBody>
      </p:sp>
      <p:sp>
        <p:nvSpPr>
          <p:cNvPr id="96" name="Google Shape;96;p15"/>
          <p:cNvSpPr/>
          <p:nvPr/>
        </p:nvSpPr>
        <p:spPr>
          <a:xfrm>
            <a:off x="793790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happens with simple linear regression?</a:t>
            </a:r>
            <a:endParaRPr sz="3050" b="0" i="0" u="none" strike="noStrike" cap="none"/>
          </a:p>
        </p:txBody>
      </p:sp>
      <p:sp>
        <p:nvSpPr>
          <p:cNvPr id="97" name="Google Shape;97;p15"/>
          <p:cNvSpPr/>
          <p:nvPr/>
        </p:nvSpPr>
        <p:spPr>
          <a:xfrm>
            <a:off x="793790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straight line might look like this:</a:t>
            </a:r>
            <a:endParaRPr sz="1750" b="0" i="0" u="none" strike="noStrike" cap="none"/>
          </a:p>
        </p:txBody>
      </p:sp>
      <p:sp>
        <p:nvSpPr>
          <p:cNvPr id="98" name="Google Shape;98;p15"/>
          <p:cNvSpPr/>
          <p:nvPr/>
        </p:nvSpPr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/>
          </a:p>
        </p:txBody>
      </p:sp>
      <p:pic>
        <p:nvPicPr>
          <p:cNvPr id="99" name="Google Shape;99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793790" y="471737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It fits the early hours but misses the flattening at higher hours.</a:t>
            </a:r>
            <a:endParaRPr sz="1750" b="0" i="0" u="none" strike="noStrike" cap="none"/>
          </a:p>
        </p:txBody>
      </p:sp>
      <p:sp>
        <p:nvSpPr>
          <p:cNvPr id="101" name="Google Shape;101;p15"/>
          <p:cNvSpPr/>
          <p:nvPr/>
        </p:nvSpPr>
        <p:spPr>
          <a:xfrm>
            <a:off x="7599521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polynomial regression can do</a:t>
            </a:r>
            <a:endParaRPr sz="3050" b="0" i="0" u="none" strike="noStrike" cap="none"/>
          </a:p>
        </p:txBody>
      </p:sp>
      <p:sp>
        <p:nvSpPr>
          <p:cNvPr id="102" name="Google Shape;102;p15"/>
          <p:cNvSpPr/>
          <p:nvPr/>
        </p:nvSpPr>
        <p:spPr>
          <a:xfrm>
            <a:off x="7599521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polynomial model like:</a:t>
            </a:r>
            <a:endParaRPr sz="1750" b="0" i="0" u="none" strike="noStrike" cap="none"/>
          </a:p>
        </p:txBody>
      </p:sp>
      <p:sp>
        <p:nvSpPr>
          <p:cNvPr id="103" name="Google Shape;103;p15"/>
          <p:cNvSpPr/>
          <p:nvPr/>
        </p:nvSpPr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 b="0" i="0" u="none" strike="noStrike" cap="none"/>
          </a:p>
        </p:txBody>
      </p:sp>
      <p:pic>
        <p:nvPicPr>
          <p:cNvPr id="104" name="Google Shape;104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7599521" y="4717375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can bend to follow the real pattern:</a:t>
            </a:r>
            <a:endParaRPr sz="175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7599521" y="5216247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Steep increase at the beginning</a:t>
            </a:r>
            <a:endParaRPr sz="1750" b="0" i="0" u="none" strike="noStrike" cap="none"/>
          </a:p>
        </p:txBody>
      </p:sp>
      <p:sp>
        <p:nvSpPr>
          <p:cNvPr id="107" name="Google Shape;107;p15"/>
          <p:cNvSpPr/>
          <p:nvPr/>
        </p:nvSpPr>
        <p:spPr>
          <a:xfrm>
            <a:off x="7599521" y="5590342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Slow growth after long study hours</a:t>
            </a:r>
            <a:endParaRPr sz="1750" b="0" i="0" u="none" strike="noStrike" cap="none"/>
          </a:p>
        </p:txBody>
      </p:sp>
      <p:sp>
        <p:nvSpPr>
          <p:cNvPr id="108" name="Google Shape;108;p15"/>
          <p:cNvSpPr/>
          <p:nvPr/>
        </p:nvSpPr>
        <p:spPr>
          <a:xfrm>
            <a:off x="7599521" y="6089213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captures the true behaviour much better.</a:t>
            </a:r>
            <a:endParaRPr sz="17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793790" y="684323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1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For relationships that rise fast at first and then level off (or bend in any direction), polynomial regression provides the curved shape that linear regression simply cannot.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793789" y="1786533"/>
            <a:ext cx="11738179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 dirty="0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Core Idea: Feature Transformation</a:t>
            </a:r>
            <a:endParaRPr sz="5100" b="0" i="0" u="none" strike="noStrike" cap="none" dirty="0"/>
          </a:p>
        </p:txBody>
      </p:sp>
      <p:pic>
        <p:nvPicPr>
          <p:cNvPr id="116" name="Google Shape;116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020604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Original Feature</a:t>
            </a:r>
            <a:endParaRPr sz="2550" b="0" i="0" u="none" strike="noStrike" cap="none"/>
          </a:p>
        </p:txBody>
      </p:sp>
      <p:sp>
        <p:nvSpPr>
          <p:cNvPr id="118" name="Google Shape;118;p16"/>
          <p:cNvSpPr/>
          <p:nvPr/>
        </p:nvSpPr>
        <p:spPr>
          <a:xfrm>
            <a:off x="1020604" y="4781907"/>
            <a:ext cx="3893939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Start with your input variable x</a:t>
            </a:r>
            <a:endParaRPr sz="1750" b="0" i="0" u="none" strike="noStrike" cap="none"/>
          </a:p>
        </p:txBody>
      </p:sp>
      <p:pic>
        <p:nvPicPr>
          <p:cNvPr id="119" name="Google Shape;119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1357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368171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Transform</a:t>
            </a:r>
            <a:endParaRPr sz="2550" b="0" i="0" u="none" strike="noStrike" cap="none"/>
          </a:p>
        </p:txBody>
      </p:sp>
      <p:sp>
        <p:nvSpPr>
          <p:cNvPr id="121" name="Google Shape;121;p16"/>
          <p:cNvSpPr/>
          <p:nvPr/>
        </p:nvSpPr>
        <p:spPr>
          <a:xfrm>
            <a:off x="5368171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 dirty="0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polynomial features: x, x², x³, ...</a:t>
            </a:r>
            <a:endParaRPr sz="1750" b="0" i="0" u="none" strike="noStrike" cap="none" dirty="0"/>
          </a:p>
        </p:txBody>
      </p:sp>
      <p:pic>
        <p:nvPicPr>
          <p:cNvPr id="122" name="Google Shape;12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88924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9715738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Model</a:t>
            </a:r>
            <a:endParaRPr sz="2550" b="0" i="0" u="none" strike="noStrike" cap="none"/>
          </a:p>
        </p:txBody>
      </p:sp>
      <p:sp>
        <p:nvSpPr>
          <p:cNvPr id="124" name="Google Shape;124;p16"/>
          <p:cNvSpPr/>
          <p:nvPr/>
        </p:nvSpPr>
        <p:spPr>
          <a:xfrm>
            <a:off x="9715738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standard linear regression to expanded features</a:t>
            </a:r>
            <a:endParaRPr sz="1750" b="0" i="0" u="none" strike="noStrike" cap="none"/>
          </a:p>
        </p:txBody>
      </p:sp>
      <p:sp>
        <p:nvSpPr>
          <p:cNvPr id="125" name="Google Shape;125;p16"/>
          <p:cNvSpPr/>
          <p:nvPr/>
        </p:nvSpPr>
        <p:spPr>
          <a:xfrm>
            <a:off x="793790" y="585347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beauty of polynomial regression is that it remains </a:t>
            </a:r>
            <a:r>
              <a:rPr lang="en-US" sz="1750" b="1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in parameters</a:t>
            </a: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—we're still finding optimal weights through the same mathematical framework, just with richer features.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793790" y="191119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Risk: Overfitting</a:t>
            </a:r>
            <a:endParaRPr sz="51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793790" y="309907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Choosing the right polynomial degree is crucial. Too simple and you miss the pattern; too complex and you memorize noise instead of learning the true relationship.</a:t>
            </a:r>
            <a:endParaRPr sz="175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793790" y="3943826"/>
            <a:ext cx="4196358" cy="2374583"/>
          </a:xfrm>
          <a:prstGeom prst="roundRect">
            <a:avLst>
              <a:gd name="adj" fmla="val 4012"/>
            </a:avLst>
          </a:prstGeom>
          <a:solidFill>
            <a:srgbClr val="FFFFF4"/>
          </a:solidFill>
          <a:ln w="22850" cap="flat" cmpd="sng">
            <a:solidFill>
              <a:srgbClr val="FF95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1043464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Underfit</a:t>
            </a:r>
            <a:endParaRPr sz="255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1043464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1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 degree polynomial</a:t>
            </a:r>
            <a:endParaRPr sz="1750" b="0" i="0" u="none" strike="noStrike" cap="none"/>
          </a:p>
        </p:txBody>
      </p:sp>
      <p:sp>
        <p:nvSpPr>
          <p:cNvPr id="136" name="Google Shape;136;p17"/>
          <p:cNvSpPr/>
          <p:nvPr/>
        </p:nvSpPr>
        <p:spPr>
          <a:xfrm>
            <a:off x="1043464" y="5184338"/>
            <a:ext cx="3697010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bias—model too simple to capture the underlying pattern</a:t>
            </a:r>
            <a:endParaRPr sz="1750" b="0" i="0" u="none" strike="noStrike" cap="none"/>
          </a:p>
        </p:txBody>
      </p:sp>
      <p:sp>
        <p:nvSpPr>
          <p:cNvPr id="137" name="Google Shape;137;p17"/>
          <p:cNvSpPr/>
          <p:nvPr/>
        </p:nvSpPr>
        <p:spPr>
          <a:xfrm>
            <a:off x="5216962" y="3943826"/>
            <a:ext cx="4196358" cy="2374583"/>
          </a:xfrm>
          <a:prstGeom prst="roundRect">
            <a:avLst>
              <a:gd name="adj" fmla="val 4012"/>
            </a:avLst>
          </a:prstGeom>
          <a:solidFill>
            <a:srgbClr val="FFFFF4"/>
          </a:solidFill>
          <a:ln w="22850" cap="flat" cmpd="sng">
            <a:solidFill>
              <a:srgbClr val="7D3E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466636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Good Fit</a:t>
            </a:r>
            <a:endParaRPr sz="2550" b="0" i="0" u="none" strike="noStrike" cap="none"/>
          </a:p>
        </p:txBody>
      </p:sp>
      <p:sp>
        <p:nvSpPr>
          <p:cNvPr id="139" name="Google Shape;139;p17"/>
          <p:cNvSpPr/>
          <p:nvPr/>
        </p:nvSpPr>
        <p:spPr>
          <a:xfrm>
            <a:off x="5466636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1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Optimal degree</a:t>
            </a:r>
            <a:endParaRPr sz="1750" b="0" i="0" u="none" strike="noStrike" cap="none"/>
          </a:p>
        </p:txBody>
      </p:sp>
      <p:sp>
        <p:nvSpPr>
          <p:cNvPr id="140" name="Google Shape;140;p17"/>
          <p:cNvSpPr/>
          <p:nvPr/>
        </p:nvSpPr>
        <p:spPr>
          <a:xfrm>
            <a:off x="5466636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Balanced—captures true relationship without memorizing noise</a:t>
            </a:r>
            <a:endParaRPr sz="1750" b="0" i="0" u="none" strike="noStrike" cap="none"/>
          </a:p>
        </p:txBody>
      </p:sp>
      <p:sp>
        <p:nvSpPr>
          <p:cNvPr id="141" name="Google Shape;141;p17"/>
          <p:cNvSpPr/>
          <p:nvPr/>
        </p:nvSpPr>
        <p:spPr>
          <a:xfrm>
            <a:off x="9640133" y="3943826"/>
            <a:ext cx="4196358" cy="2374583"/>
          </a:xfrm>
          <a:prstGeom prst="roundRect">
            <a:avLst>
              <a:gd name="adj" fmla="val 4012"/>
            </a:avLst>
          </a:prstGeom>
          <a:solidFill>
            <a:srgbClr val="FFFFF4"/>
          </a:solidFill>
          <a:ln w="22850" cap="flat" cmpd="sng">
            <a:solidFill>
              <a:srgbClr val="5324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9889808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Overfit</a:t>
            </a:r>
            <a:endParaRPr sz="2550" b="0" i="0" u="none" strike="noStrike" cap="none"/>
          </a:p>
        </p:txBody>
      </p:sp>
      <p:sp>
        <p:nvSpPr>
          <p:cNvPr id="143" name="Google Shape;143;p17"/>
          <p:cNvSpPr/>
          <p:nvPr/>
        </p:nvSpPr>
        <p:spPr>
          <a:xfrm>
            <a:off x="9889808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1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degree polynomial</a:t>
            </a:r>
            <a:endParaRPr sz="1750" b="0" i="0" u="none" strike="noStrike" cap="none"/>
          </a:p>
        </p:txBody>
      </p:sp>
      <p:sp>
        <p:nvSpPr>
          <p:cNvPr id="144" name="Google Shape;144;p17"/>
          <p:cNvSpPr/>
          <p:nvPr/>
        </p:nvSpPr>
        <p:spPr>
          <a:xfrm>
            <a:off x="9889808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variance—model twists and turns through every data point, including noise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793790" y="984885"/>
            <a:ext cx="8121729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Balancing Bias and Variance</a:t>
            </a:r>
            <a:endParaRPr sz="5100" b="0" i="0" u="none" strike="noStrike" cap="none"/>
          </a:p>
        </p:txBody>
      </p:sp>
      <p:sp>
        <p:nvSpPr>
          <p:cNvPr id="151" name="Google Shape;151;p18"/>
          <p:cNvSpPr/>
          <p:nvPr/>
        </p:nvSpPr>
        <p:spPr>
          <a:xfrm>
            <a:off x="793790" y="4343043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301960" y="3662601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062049" y="40878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50" cap="flat" cmpd="sng">
            <a:solidFill>
              <a:srgbClr val="F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12158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sz="3050" b="0" i="0" u="none" strike="noStrike" cap="none"/>
          </a:p>
        </p:txBody>
      </p:sp>
      <p:sp>
        <p:nvSpPr>
          <p:cNvPr id="155" name="Google Shape;155;p18"/>
          <p:cNvSpPr/>
          <p:nvPr/>
        </p:nvSpPr>
        <p:spPr>
          <a:xfrm>
            <a:off x="1686878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</a:t>
            </a:r>
            <a:endParaRPr sz="2550" b="0" i="0" u="none" strike="noStrike" cap="none"/>
          </a:p>
        </p:txBody>
      </p:sp>
      <p:sp>
        <p:nvSpPr>
          <p:cNvPr id="156" name="Google Shape;156;p18"/>
          <p:cNvSpPr/>
          <p:nvPr/>
        </p:nvSpPr>
        <p:spPr>
          <a:xfrm>
            <a:off x="1020604" y="2846189"/>
            <a:ext cx="4593312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model - maximum bias, minimum variance</a:t>
            </a:r>
            <a:endParaRPr sz="1750" b="0" i="0" u="none" strike="noStrike" cap="none"/>
          </a:p>
        </p:txBody>
      </p:sp>
      <p:sp>
        <p:nvSpPr>
          <p:cNvPr id="157" name="Google Shape;157;p18"/>
          <p:cNvSpPr/>
          <p:nvPr/>
        </p:nvSpPr>
        <p:spPr>
          <a:xfrm>
            <a:off x="5967293" y="4343043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27382" y="40878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50" cap="flat" cmpd="sng">
            <a:solidFill>
              <a:srgbClr val="F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86914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sz="3050" b="0" i="0" u="none" strike="noStrike" cap="none"/>
          </a:p>
        </p:txBody>
      </p:sp>
      <p:sp>
        <p:nvSpPr>
          <p:cNvPr id="160" name="Google Shape;160;p18"/>
          <p:cNvSpPr/>
          <p:nvPr/>
        </p:nvSpPr>
        <p:spPr>
          <a:xfrm>
            <a:off x="4352211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2-3</a:t>
            </a:r>
            <a:endParaRPr sz="2550" b="0" i="0" u="none" strike="noStrike" cap="none"/>
          </a:p>
        </p:txBody>
      </p:sp>
      <p:sp>
        <p:nvSpPr>
          <p:cNvPr id="161" name="Google Shape;161;p18"/>
          <p:cNvSpPr/>
          <p:nvPr/>
        </p:nvSpPr>
        <p:spPr>
          <a:xfrm>
            <a:off x="3685818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Sweet spot for many real-world problems</a:t>
            </a:r>
            <a:endParaRPr sz="1750" b="0" i="0" u="none" strike="noStrike" cap="none"/>
          </a:p>
        </p:txBody>
      </p:sp>
      <p:sp>
        <p:nvSpPr>
          <p:cNvPr id="162" name="Google Shape;162;p18"/>
          <p:cNvSpPr/>
          <p:nvPr/>
        </p:nvSpPr>
        <p:spPr>
          <a:xfrm>
            <a:off x="8632508" y="3662601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392597" y="40878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50" cap="flat" cmpd="sng">
            <a:solidFill>
              <a:srgbClr val="F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452128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sz="3050" b="0" i="0" u="none" strike="noStrike" cap="none"/>
          </a:p>
        </p:txBody>
      </p:sp>
      <p:sp>
        <p:nvSpPr>
          <p:cNvPr id="165" name="Google Shape;165;p18"/>
          <p:cNvSpPr/>
          <p:nvPr/>
        </p:nvSpPr>
        <p:spPr>
          <a:xfrm>
            <a:off x="7017425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5+</a:t>
            </a:r>
            <a:endParaRPr sz="2550" b="0" i="0" u="none" strike="noStrike" cap="none"/>
          </a:p>
        </p:txBody>
      </p:sp>
      <p:sp>
        <p:nvSpPr>
          <p:cNvPr id="166" name="Google Shape;166;p18"/>
          <p:cNvSpPr/>
          <p:nvPr/>
        </p:nvSpPr>
        <p:spPr>
          <a:xfrm>
            <a:off x="6351032" y="2846189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flexibility but risk of overfitting increases</a:t>
            </a:r>
            <a:endParaRPr sz="1750" b="0" i="0" u="none" strike="noStrike" cap="none"/>
          </a:p>
        </p:txBody>
      </p:sp>
      <p:sp>
        <p:nvSpPr>
          <p:cNvPr id="167" name="Google Shape;167;p18"/>
          <p:cNvSpPr/>
          <p:nvPr/>
        </p:nvSpPr>
        <p:spPr>
          <a:xfrm>
            <a:off x="11297841" y="4343043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1057930" y="40878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50" cap="flat" cmpd="sng">
            <a:solidFill>
              <a:srgbClr val="FFE0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111746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sz="3050" b="0" i="0" u="none" strike="noStrike" cap="none"/>
          </a:p>
        </p:txBody>
      </p:sp>
      <p:sp>
        <p:nvSpPr>
          <p:cNvPr id="170" name="Google Shape;170;p18"/>
          <p:cNvSpPr/>
          <p:nvPr/>
        </p:nvSpPr>
        <p:spPr>
          <a:xfrm>
            <a:off x="9682758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lang="en-US" sz="2550" b="0" i="0" u="none" strike="noStrike" cap="non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10+</a:t>
            </a:r>
            <a:endParaRPr sz="2550" b="0" i="0" u="none" strike="noStrike" cap="none"/>
          </a:p>
        </p:txBody>
      </p:sp>
      <p:sp>
        <p:nvSpPr>
          <p:cNvPr id="171" name="Google Shape;171;p18"/>
          <p:cNvSpPr/>
          <p:nvPr/>
        </p:nvSpPr>
        <p:spPr>
          <a:xfrm>
            <a:off x="9016365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Extreme variance - rarely generalizes well</a:t>
            </a:r>
            <a:endParaRPr sz="1750" b="0" i="0" u="none" strike="noStrike" cap="none"/>
          </a:p>
        </p:txBody>
      </p:sp>
      <p:sp>
        <p:nvSpPr>
          <p:cNvPr id="172" name="Google Shape;172;p18"/>
          <p:cNvSpPr/>
          <p:nvPr/>
        </p:nvSpPr>
        <p:spPr>
          <a:xfrm>
            <a:off x="793790" y="665499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optimal degree depends on your data complexity, sample size, and how well you want to generalize to new observations. Cross-validation helps find the right balance.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793790" y="823198"/>
            <a:ext cx="8756094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lang="en-US" sz="510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Interactive Exploration Ahead</a:t>
            </a:r>
            <a:endParaRPr sz="5100" b="0" i="0" u="none" strike="noStrike" cap="none"/>
          </a:p>
        </p:txBody>
      </p:sp>
      <p:sp>
        <p:nvSpPr>
          <p:cNvPr id="179" name="Google Shape;179;p19"/>
          <p:cNvSpPr/>
          <p:nvPr/>
        </p:nvSpPr>
        <p:spPr>
          <a:xfrm>
            <a:off x="793790" y="2237899"/>
            <a:ext cx="4044553" cy="50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lang="en-US" sz="305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Time to Get Hands-On</a:t>
            </a:r>
            <a:endParaRPr sz="3050" b="0" i="0" u="none" strike="noStrike" cap="none"/>
          </a:p>
        </p:txBody>
      </p:sp>
      <p:sp>
        <p:nvSpPr>
          <p:cNvPr id="180" name="Google Shape;180;p19"/>
          <p:cNvSpPr/>
          <p:nvPr/>
        </p:nvSpPr>
        <p:spPr>
          <a:xfrm>
            <a:off x="793790" y="2973229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work with real median income values to see polynomial regression in action. You'll experiment with different polynomial degrees and visualize how curves adapt to data patterns.</a:t>
            </a:r>
            <a:endParaRPr sz="1750" b="0" i="0" u="none" strike="noStrike" cap="none"/>
          </a:p>
        </p:txBody>
      </p:sp>
      <p:sp>
        <p:nvSpPr>
          <p:cNvPr id="181" name="Google Shape;181;p19"/>
          <p:cNvSpPr/>
          <p:nvPr/>
        </p:nvSpPr>
        <p:spPr>
          <a:xfrm>
            <a:off x="793790" y="4061698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Through interactive curve fitting, you'll develop intuition for choosing appropriate model complexity and recognizing the signs of underfitting versus overfitting.</a:t>
            </a:r>
            <a:endParaRPr sz="1750" b="0" i="0" u="none" strike="noStrike" cap="none"/>
          </a:p>
        </p:txBody>
      </p:sp>
      <p:pic>
        <p:nvPicPr>
          <p:cNvPr id="182" name="Google Shape;182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9096" y="2266236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793790" y="1954411"/>
            <a:ext cx="13042821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0250"/>
              <a:buFont typeface="Marcellus"/>
              <a:buNone/>
            </a:pPr>
            <a:r>
              <a:rPr lang="en-US" sz="10250" b="0" i="0" u="none" strike="noStrike" cap="non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Let's Implement Polynomial Regression</a:t>
            </a:r>
            <a:endParaRPr sz="10250" b="0" i="0" u="none" strike="noStrike" cap="none"/>
          </a:p>
        </p:txBody>
      </p:sp>
      <p:sp>
        <p:nvSpPr>
          <p:cNvPr id="189" name="Google Shape;189;p20"/>
          <p:cNvSpPr/>
          <p:nvPr/>
        </p:nvSpPr>
        <p:spPr>
          <a:xfrm>
            <a:off x="793790" y="568547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lang="en-US" sz="1750" b="0" i="0" u="none" strike="noStrike" cap="non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Ready to transform theory into practice? Open your notebook and let's start building polynomial models that capture the curves hidden in your data.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Custom</PresentationFormat>
  <Paragraphs>86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Montserrat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Walid Bin Mohammed</cp:lastModifiedBy>
  <cp:revision>1</cp:revision>
  <dcterms:modified xsi:type="dcterms:W3CDTF">2026-09-04T17:22:00Z</dcterms:modified>
</cp:coreProperties>
</file>