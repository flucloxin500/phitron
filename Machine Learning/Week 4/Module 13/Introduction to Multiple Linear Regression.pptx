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Marcellus" panose="020B0604020202020204" charset="0"/>
      <p:regular r:id="rId13"/>
    </p:embeddedFont>
    <p:embeddedFont>
      <p:font typeface="Montserrat" panose="020F0502020204030204"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g3tv6C3UJb+aTfWNrTAZIzv//Q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8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 name="Google Shape;4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 name="Google Shape;4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 name="Google Shape;5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 name="Google Shape;6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10"/>
        <p:cNvGrpSpPr/>
        <p:nvPr/>
      </p:nvGrpSpPr>
      <p:grpSpPr>
        <a:xfrm>
          <a:off x="0" y="0"/>
          <a:ext cx="0" cy="0"/>
          <a:chOff x="0" y="0"/>
          <a:chExt cx="0" cy="0"/>
        </a:xfrm>
      </p:grpSpPr>
      <p:sp>
        <p:nvSpPr>
          <p:cNvPr id="11" name="Google Shape;11;p12"/>
          <p:cNvSpPr/>
          <p:nvPr/>
        </p:nvSpPr>
        <p:spPr>
          <a:xfrm>
            <a:off x="0" y="0"/>
            <a:ext cx="14630400" cy="8229600"/>
          </a:xfrm>
          <a:prstGeom prst="rect">
            <a:avLst/>
          </a:prstGeom>
          <a:solidFill>
            <a:srgbClr val="DEC8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2"/>
          <p:cNvSpPr/>
          <p:nvPr/>
        </p:nvSpPr>
        <p:spPr>
          <a:xfrm>
            <a:off x="0" y="0"/>
            <a:ext cx="14630400" cy="8229600"/>
          </a:xfrm>
          <a:prstGeom prst="rect">
            <a:avLst/>
          </a:prstGeom>
          <a:solidFill>
            <a:srgbClr val="FFFFF4">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3"/>
        <p:cNvGrpSpPr/>
        <p:nvPr/>
      </p:nvGrpSpPr>
      <p:grpSpPr>
        <a:xfrm>
          <a:off x="0" y="0"/>
          <a:ext cx="0" cy="0"/>
          <a:chOff x="0" y="0"/>
          <a:chExt cx="0" cy="0"/>
        </a:xfrm>
      </p:grpSpPr>
      <p:sp>
        <p:nvSpPr>
          <p:cNvPr id="14" name="Google Shape;14;p13"/>
          <p:cNvSpPr/>
          <p:nvPr/>
        </p:nvSpPr>
        <p:spPr>
          <a:xfrm>
            <a:off x="0" y="0"/>
            <a:ext cx="14630400" cy="8229600"/>
          </a:xfrm>
          <a:prstGeom prst="rect">
            <a:avLst/>
          </a:prstGeom>
          <a:solidFill>
            <a:srgbClr val="DEC8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13"/>
          <p:cNvSpPr/>
          <p:nvPr/>
        </p:nvSpPr>
        <p:spPr>
          <a:xfrm>
            <a:off x="0" y="0"/>
            <a:ext cx="14630400" cy="8229600"/>
          </a:xfrm>
          <a:prstGeom prst="rect">
            <a:avLst/>
          </a:prstGeom>
          <a:solidFill>
            <a:srgbClr val="FFFFF4">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6"/>
        <p:cNvGrpSpPr/>
        <p:nvPr/>
      </p:nvGrpSpPr>
      <p:grpSpPr>
        <a:xfrm>
          <a:off x="0" y="0"/>
          <a:ext cx="0" cy="0"/>
          <a:chOff x="0" y="0"/>
          <a:chExt cx="0" cy="0"/>
        </a:xfrm>
      </p:grpSpPr>
      <p:sp>
        <p:nvSpPr>
          <p:cNvPr id="17" name="Google Shape;17;p14"/>
          <p:cNvSpPr/>
          <p:nvPr/>
        </p:nvSpPr>
        <p:spPr>
          <a:xfrm>
            <a:off x="0" y="0"/>
            <a:ext cx="14630400" cy="8229600"/>
          </a:xfrm>
          <a:prstGeom prst="rect">
            <a:avLst/>
          </a:prstGeom>
          <a:solidFill>
            <a:srgbClr val="DEC8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14"/>
          <p:cNvSpPr/>
          <p:nvPr/>
        </p:nvSpPr>
        <p:spPr>
          <a:xfrm>
            <a:off x="0" y="0"/>
            <a:ext cx="14630400" cy="8229600"/>
          </a:xfrm>
          <a:prstGeom prst="rect">
            <a:avLst/>
          </a:prstGeom>
          <a:solidFill>
            <a:srgbClr val="FFFFF4">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19"/>
        <p:cNvGrpSpPr/>
        <p:nvPr/>
      </p:nvGrpSpPr>
      <p:grpSpPr>
        <a:xfrm>
          <a:off x="0" y="0"/>
          <a:ext cx="0" cy="0"/>
          <a:chOff x="0" y="0"/>
          <a:chExt cx="0" cy="0"/>
        </a:xfrm>
      </p:grpSpPr>
      <p:sp>
        <p:nvSpPr>
          <p:cNvPr id="20" name="Google Shape;20;p15"/>
          <p:cNvSpPr/>
          <p:nvPr/>
        </p:nvSpPr>
        <p:spPr>
          <a:xfrm>
            <a:off x="0" y="0"/>
            <a:ext cx="14630400" cy="8229600"/>
          </a:xfrm>
          <a:prstGeom prst="rect">
            <a:avLst/>
          </a:prstGeom>
          <a:solidFill>
            <a:srgbClr val="DEC8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15"/>
          <p:cNvSpPr/>
          <p:nvPr/>
        </p:nvSpPr>
        <p:spPr>
          <a:xfrm>
            <a:off x="0" y="0"/>
            <a:ext cx="14630400" cy="8229600"/>
          </a:xfrm>
          <a:prstGeom prst="rect">
            <a:avLst/>
          </a:prstGeom>
          <a:solidFill>
            <a:srgbClr val="FFFFF4">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22"/>
        <p:cNvGrpSpPr/>
        <p:nvPr/>
      </p:nvGrpSpPr>
      <p:grpSpPr>
        <a:xfrm>
          <a:off x="0" y="0"/>
          <a:ext cx="0" cy="0"/>
          <a:chOff x="0" y="0"/>
          <a:chExt cx="0" cy="0"/>
        </a:xfrm>
      </p:grpSpPr>
      <p:sp>
        <p:nvSpPr>
          <p:cNvPr id="23" name="Google Shape;23;p16"/>
          <p:cNvSpPr/>
          <p:nvPr/>
        </p:nvSpPr>
        <p:spPr>
          <a:xfrm>
            <a:off x="0" y="0"/>
            <a:ext cx="14630400" cy="8229600"/>
          </a:xfrm>
          <a:prstGeom prst="rect">
            <a:avLst/>
          </a:prstGeom>
          <a:solidFill>
            <a:srgbClr val="DEC8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16"/>
          <p:cNvSpPr/>
          <p:nvPr/>
        </p:nvSpPr>
        <p:spPr>
          <a:xfrm>
            <a:off x="0" y="0"/>
            <a:ext cx="14630400" cy="8229600"/>
          </a:xfrm>
          <a:prstGeom prst="rect">
            <a:avLst/>
          </a:prstGeom>
          <a:solidFill>
            <a:srgbClr val="FFFFF4">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25"/>
        <p:cNvGrpSpPr/>
        <p:nvPr/>
      </p:nvGrpSpPr>
      <p:grpSpPr>
        <a:xfrm>
          <a:off x="0" y="0"/>
          <a:ext cx="0" cy="0"/>
          <a:chOff x="0" y="0"/>
          <a:chExt cx="0" cy="0"/>
        </a:xfrm>
      </p:grpSpPr>
      <p:sp>
        <p:nvSpPr>
          <p:cNvPr id="26" name="Google Shape;26;p17"/>
          <p:cNvSpPr/>
          <p:nvPr/>
        </p:nvSpPr>
        <p:spPr>
          <a:xfrm>
            <a:off x="0" y="0"/>
            <a:ext cx="14630400" cy="8229600"/>
          </a:xfrm>
          <a:prstGeom prst="rect">
            <a:avLst/>
          </a:prstGeom>
          <a:solidFill>
            <a:srgbClr val="DEC8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17"/>
          <p:cNvSpPr/>
          <p:nvPr/>
        </p:nvSpPr>
        <p:spPr>
          <a:xfrm>
            <a:off x="0" y="0"/>
            <a:ext cx="14630400" cy="8229600"/>
          </a:xfrm>
          <a:prstGeom prst="rect">
            <a:avLst/>
          </a:prstGeom>
          <a:solidFill>
            <a:srgbClr val="FFFFF4">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28"/>
        <p:cNvGrpSpPr/>
        <p:nvPr/>
      </p:nvGrpSpPr>
      <p:grpSpPr>
        <a:xfrm>
          <a:off x="0" y="0"/>
          <a:ext cx="0" cy="0"/>
          <a:chOff x="0" y="0"/>
          <a:chExt cx="0" cy="0"/>
        </a:xfrm>
      </p:grpSpPr>
      <p:sp>
        <p:nvSpPr>
          <p:cNvPr id="29" name="Google Shape;29;p18"/>
          <p:cNvSpPr/>
          <p:nvPr/>
        </p:nvSpPr>
        <p:spPr>
          <a:xfrm>
            <a:off x="0" y="0"/>
            <a:ext cx="14630400" cy="8229600"/>
          </a:xfrm>
          <a:prstGeom prst="rect">
            <a:avLst/>
          </a:prstGeom>
          <a:solidFill>
            <a:srgbClr val="DEC8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18"/>
          <p:cNvSpPr/>
          <p:nvPr/>
        </p:nvSpPr>
        <p:spPr>
          <a:xfrm>
            <a:off x="0" y="0"/>
            <a:ext cx="14630400" cy="8229600"/>
          </a:xfrm>
          <a:prstGeom prst="rect">
            <a:avLst/>
          </a:prstGeom>
          <a:solidFill>
            <a:srgbClr val="FFFFF4">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31"/>
        <p:cNvGrpSpPr/>
        <p:nvPr/>
      </p:nvGrpSpPr>
      <p:grpSpPr>
        <a:xfrm>
          <a:off x="0" y="0"/>
          <a:ext cx="0" cy="0"/>
          <a:chOff x="0" y="0"/>
          <a:chExt cx="0" cy="0"/>
        </a:xfrm>
      </p:grpSpPr>
      <p:sp>
        <p:nvSpPr>
          <p:cNvPr id="32" name="Google Shape;32;p19"/>
          <p:cNvSpPr/>
          <p:nvPr/>
        </p:nvSpPr>
        <p:spPr>
          <a:xfrm>
            <a:off x="0" y="0"/>
            <a:ext cx="14630400" cy="8229600"/>
          </a:xfrm>
          <a:prstGeom prst="rect">
            <a:avLst/>
          </a:prstGeom>
          <a:solidFill>
            <a:srgbClr val="DEC8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9"/>
          <p:cNvSpPr/>
          <p:nvPr/>
        </p:nvSpPr>
        <p:spPr>
          <a:xfrm>
            <a:off x="0" y="0"/>
            <a:ext cx="14630400" cy="8229600"/>
          </a:xfrm>
          <a:prstGeom prst="rect">
            <a:avLst/>
          </a:prstGeom>
          <a:solidFill>
            <a:srgbClr val="FFFFF4">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34"/>
        <p:cNvGrpSpPr/>
        <p:nvPr/>
      </p:nvGrpSpPr>
      <p:grpSpPr>
        <a:xfrm>
          <a:off x="0" y="0"/>
          <a:ext cx="0" cy="0"/>
          <a:chOff x="0" y="0"/>
          <a:chExt cx="0" cy="0"/>
        </a:xfrm>
      </p:grpSpPr>
      <p:sp>
        <p:nvSpPr>
          <p:cNvPr id="35" name="Google Shape;35;p20"/>
          <p:cNvSpPr/>
          <p:nvPr/>
        </p:nvSpPr>
        <p:spPr>
          <a:xfrm>
            <a:off x="0" y="0"/>
            <a:ext cx="14630400" cy="8229600"/>
          </a:xfrm>
          <a:prstGeom prst="rect">
            <a:avLst/>
          </a:prstGeom>
          <a:solidFill>
            <a:srgbClr val="DEC8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20"/>
          <p:cNvSpPr/>
          <p:nvPr/>
        </p:nvSpPr>
        <p:spPr>
          <a:xfrm>
            <a:off x="0" y="0"/>
            <a:ext cx="14630400" cy="8229600"/>
          </a:xfrm>
          <a:prstGeom prst="rect">
            <a:avLst/>
          </a:prstGeom>
          <a:solidFill>
            <a:srgbClr val="FFFFF4">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37"/>
        <p:cNvGrpSpPr/>
        <p:nvPr/>
      </p:nvGrpSpPr>
      <p:grpSpPr>
        <a:xfrm>
          <a:off x="0" y="0"/>
          <a:ext cx="0" cy="0"/>
          <a:chOff x="0" y="0"/>
          <a:chExt cx="0" cy="0"/>
        </a:xfrm>
      </p:grpSpPr>
      <p:sp>
        <p:nvSpPr>
          <p:cNvPr id="38" name="Google Shape;38;p21"/>
          <p:cNvSpPr/>
          <p:nvPr/>
        </p:nvSpPr>
        <p:spPr>
          <a:xfrm>
            <a:off x="0" y="0"/>
            <a:ext cx="14630400" cy="8229600"/>
          </a:xfrm>
          <a:prstGeom prst="rect">
            <a:avLst/>
          </a:prstGeom>
          <a:solidFill>
            <a:srgbClr val="DEC8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21"/>
          <p:cNvSpPr/>
          <p:nvPr/>
        </p:nvSpPr>
        <p:spPr>
          <a:xfrm>
            <a:off x="0" y="0"/>
            <a:ext cx="14630400" cy="8229600"/>
          </a:xfrm>
          <a:prstGeom prst="rect">
            <a:avLst/>
          </a:prstGeom>
          <a:solidFill>
            <a:srgbClr val="FFFFF4">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pic>
        <p:nvPicPr>
          <p:cNvPr id="46" name="Google Shape;46;p1" descr="preencoded.png"/>
          <p:cNvPicPr preferRelativeResize="0"/>
          <p:nvPr/>
        </p:nvPicPr>
        <p:blipFill rotWithShape="1">
          <a:blip r:embed="rId3">
            <a:alphaModFix/>
          </a:blip>
          <a:srcRect/>
          <a:stretch/>
        </p:blipFill>
        <p:spPr>
          <a:xfrm>
            <a:off x="8869680" y="0"/>
            <a:ext cx="5760720" cy="8229600"/>
          </a:xfrm>
          <a:prstGeom prst="rect">
            <a:avLst/>
          </a:prstGeom>
          <a:noFill/>
          <a:ln>
            <a:noFill/>
          </a:ln>
        </p:spPr>
      </p:pic>
      <p:sp>
        <p:nvSpPr>
          <p:cNvPr id="47" name="Google Shape;47;p1"/>
          <p:cNvSpPr/>
          <p:nvPr/>
        </p:nvSpPr>
        <p:spPr>
          <a:xfrm>
            <a:off x="793790" y="3095149"/>
            <a:ext cx="7556421" cy="1483519"/>
          </a:xfrm>
          <a:prstGeom prst="rect">
            <a:avLst/>
          </a:prstGeom>
          <a:noFill/>
          <a:ln>
            <a:noFill/>
          </a:ln>
        </p:spPr>
        <p:txBody>
          <a:bodyPr spcFirstLastPara="1" wrap="square" lIns="0" tIns="0" rIns="0" bIns="0" anchor="t" anchorCtr="0">
            <a:noAutofit/>
          </a:bodyPr>
          <a:lstStyle/>
          <a:p>
            <a:pPr marL="0" marR="0" lvl="0" indent="0" algn="l" rtl="0">
              <a:lnSpc>
                <a:spcPct val="130337"/>
              </a:lnSpc>
              <a:spcBef>
                <a:spcPts val="0"/>
              </a:spcBef>
              <a:spcAft>
                <a:spcPts val="0"/>
              </a:spcAft>
              <a:buClr>
                <a:srgbClr val="532418"/>
              </a:buClr>
              <a:buSzPts val="4450"/>
              <a:buFont typeface="Marcellus"/>
              <a:buNone/>
            </a:pPr>
            <a:r>
              <a:rPr lang="en-US" sz="4450" b="0" i="0" u="none" strike="noStrike" cap="none">
                <a:solidFill>
                  <a:srgbClr val="532418"/>
                </a:solidFill>
                <a:latin typeface="Marcellus"/>
                <a:ea typeface="Marcellus"/>
                <a:cs typeface="Marcellus"/>
                <a:sym typeface="Marcellus"/>
              </a:rPr>
              <a:t>Introduction to Multiple Linear Regression</a:t>
            </a:r>
            <a:endParaRPr sz="4450" b="0" i="0" u="none" strike="noStrike" cap="none">
              <a:solidFill>
                <a:srgbClr val="000000"/>
              </a:solidFill>
              <a:latin typeface="Arial"/>
              <a:ea typeface="Arial"/>
              <a:cs typeface="Arial"/>
              <a:sym typeface="Arial"/>
            </a:endParaRPr>
          </a:p>
        </p:txBody>
      </p:sp>
      <p:sp>
        <p:nvSpPr>
          <p:cNvPr id="48" name="Google Shape;48;p1"/>
          <p:cNvSpPr/>
          <p:nvPr/>
        </p:nvSpPr>
        <p:spPr>
          <a:xfrm>
            <a:off x="793790" y="4876324"/>
            <a:ext cx="7556421"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Predicting real-world outcomes using several key factors.</a:t>
            </a:r>
            <a:endParaRPr sz="155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2"/>
          <p:cNvSpPr/>
          <p:nvPr/>
        </p:nvSpPr>
        <p:spPr>
          <a:xfrm>
            <a:off x="793790" y="2132290"/>
            <a:ext cx="9120188" cy="741759"/>
          </a:xfrm>
          <a:prstGeom prst="rect">
            <a:avLst/>
          </a:prstGeom>
          <a:noFill/>
          <a:ln>
            <a:noFill/>
          </a:ln>
        </p:spPr>
        <p:txBody>
          <a:bodyPr spcFirstLastPara="1" wrap="square" lIns="0" tIns="0" rIns="0" bIns="0" anchor="t" anchorCtr="0">
            <a:noAutofit/>
          </a:bodyPr>
          <a:lstStyle/>
          <a:p>
            <a:pPr marL="0" marR="0" lvl="0" indent="0" algn="l" rtl="0">
              <a:lnSpc>
                <a:spcPct val="130337"/>
              </a:lnSpc>
              <a:spcBef>
                <a:spcPts val="0"/>
              </a:spcBef>
              <a:spcAft>
                <a:spcPts val="0"/>
              </a:spcAft>
              <a:buClr>
                <a:srgbClr val="532418"/>
              </a:buClr>
              <a:buSzPts val="4450"/>
              <a:buFont typeface="Marcellus"/>
              <a:buNone/>
            </a:pPr>
            <a:r>
              <a:rPr lang="en-US" sz="4450" b="0" i="0" u="none" strike="noStrike" cap="none">
                <a:solidFill>
                  <a:srgbClr val="532418"/>
                </a:solidFill>
                <a:latin typeface="Marcellus"/>
                <a:ea typeface="Marcellus"/>
                <a:cs typeface="Marcellus"/>
                <a:sym typeface="Marcellus"/>
              </a:rPr>
              <a:t>What is Multiple Linear Regression?</a:t>
            </a:r>
            <a:endParaRPr sz="4450" b="0" i="0" u="none" strike="noStrike" cap="none">
              <a:solidFill>
                <a:srgbClr val="000000"/>
              </a:solidFill>
              <a:latin typeface="Arial"/>
              <a:ea typeface="Arial"/>
              <a:cs typeface="Arial"/>
              <a:sym typeface="Arial"/>
            </a:endParaRPr>
          </a:p>
        </p:txBody>
      </p:sp>
      <p:sp>
        <p:nvSpPr>
          <p:cNvPr id="55" name="Google Shape;55;p2"/>
          <p:cNvSpPr/>
          <p:nvPr/>
        </p:nvSpPr>
        <p:spPr>
          <a:xfrm>
            <a:off x="793790" y="3370064"/>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532418"/>
              </a:buClr>
              <a:buSzPts val="2200"/>
              <a:buFont typeface="Marcellus"/>
              <a:buNone/>
            </a:pPr>
            <a:r>
              <a:rPr lang="en-US" sz="2200" b="0" i="0" u="none" strike="noStrike" cap="none">
                <a:solidFill>
                  <a:srgbClr val="532418"/>
                </a:solidFill>
                <a:latin typeface="Marcellus"/>
                <a:ea typeface="Marcellus"/>
                <a:cs typeface="Marcellus"/>
                <a:sym typeface="Marcellus"/>
              </a:rPr>
              <a:t>Defining MLR</a:t>
            </a:r>
            <a:endParaRPr sz="2200" b="0" i="0" u="none" strike="noStrike" cap="none">
              <a:solidFill>
                <a:srgbClr val="000000"/>
              </a:solidFill>
              <a:latin typeface="Arial"/>
              <a:ea typeface="Arial"/>
              <a:cs typeface="Arial"/>
              <a:sym typeface="Arial"/>
            </a:endParaRPr>
          </a:p>
        </p:txBody>
      </p:sp>
      <p:sp>
        <p:nvSpPr>
          <p:cNvPr id="56" name="Google Shape;56;p2"/>
          <p:cNvSpPr/>
          <p:nvPr/>
        </p:nvSpPr>
        <p:spPr>
          <a:xfrm>
            <a:off x="793790" y="3939183"/>
            <a:ext cx="6279356" cy="774025"/>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Multiple Linear Regression (MLR) predicts a continuous outcome using several input factors simultaneously, instead of just one.</a:t>
            </a:r>
            <a:endParaRPr sz="1550" b="0" i="0" u="none" strike="noStrike" cap="none">
              <a:solidFill>
                <a:srgbClr val="000000"/>
              </a:solidFill>
              <a:latin typeface="Arial"/>
              <a:ea typeface="Arial"/>
              <a:cs typeface="Arial"/>
              <a:sym typeface="Arial"/>
            </a:endParaRPr>
          </a:p>
        </p:txBody>
      </p:sp>
      <p:sp>
        <p:nvSpPr>
          <p:cNvPr id="57" name="Google Shape;57;p2"/>
          <p:cNvSpPr/>
          <p:nvPr/>
        </p:nvSpPr>
        <p:spPr>
          <a:xfrm>
            <a:off x="793790" y="4891802"/>
            <a:ext cx="6279356"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The model learns how important, or "weighted," each factor is to make an accurate prediction.</a:t>
            </a:r>
            <a:endParaRPr sz="1550" b="0" i="0" u="none" strike="noStrike" cap="none">
              <a:solidFill>
                <a:srgbClr val="000000"/>
              </a:solidFill>
              <a:latin typeface="Arial"/>
              <a:ea typeface="Arial"/>
              <a:cs typeface="Arial"/>
              <a:sym typeface="Arial"/>
            </a:endParaRPr>
          </a:p>
        </p:txBody>
      </p:sp>
      <p:sp>
        <p:nvSpPr>
          <p:cNvPr id="58" name="Google Shape;58;p2"/>
          <p:cNvSpPr/>
          <p:nvPr/>
        </p:nvSpPr>
        <p:spPr>
          <a:xfrm>
            <a:off x="7564874" y="3370064"/>
            <a:ext cx="290250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532418"/>
              </a:buClr>
              <a:buSzPts val="2200"/>
              <a:buFont typeface="Marcellus"/>
              <a:buNone/>
            </a:pPr>
            <a:r>
              <a:rPr lang="en-US" sz="2200" b="0" i="0" u="none" strike="noStrike" cap="none">
                <a:solidFill>
                  <a:srgbClr val="532418"/>
                </a:solidFill>
                <a:latin typeface="Marcellus"/>
                <a:ea typeface="Marcellus"/>
                <a:cs typeface="Marcellus"/>
                <a:sym typeface="Marcellus"/>
              </a:rPr>
              <a:t>House Price Prediction</a:t>
            </a:r>
            <a:endParaRPr sz="2200" b="0" i="0" u="none" strike="noStrike" cap="none">
              <a:solidFill>
                <a:srgbClr val="000000"/>
              </a:solidFill>
              <a:latin typeface="Arial"/>
              <a:ea typeface="Arial"/>
              <a:cs typeface="Arial"/>
              <a:sym typeface="Arial"/>
            </a:endParaRPr>
          </a:p>
        </p:txBody>
      </p:sp>
      <p:sp>
        <p:nvSpPr>
          <p:cNvPr id="59" name="Google Shape;59;p2"/>
          <p:cNvSpPr/>
          <p:nvPr/>
        </p:nvSpPr>
        <p:spPr>
          <a:xfrm>
            <a:off x="7564874" y="3939183"/>
            <a:ext cx="6279356"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Think about predicting a </a:t>
            </a:r>
            <a:r>
              <a:rPr lang="en-US" sz="1550" b="1" i="0" u="none" strike="noStrike" cap="none">
                <a:solidFill>
                  <a:srgbClr val="67534F"/>
                </a:solidFill>
                <a:latin typeface="Montserrat"/>
                <a:ea typeface="Montserrat"/>
                <a:cs typeface="Montserrat"/>
                <a:sym typeface="Montserrat"/>
              </a:rPr>
              <a:t>house price</a:t>
            </a:r>
            <a:r>
              <a:rPr lang="en-US" sz="1550" b="0" i="0" u="none" strike="noStrike" cap="none">
                <a:solidFill>
                  <a:srgbClr val="67534F"/>
                </a:solidFill>
                <a:latin typeface="Montserrat"/>
                <a:ea typeface="Montserrat"/>
                <a:cs typeface="Montserrat"/>
                <a:sym typeface="Montserrat"/>
              </a:rPr>
              <a:t>. Instead of just square footage, MLR considers multiple features like:</a:t>
            </a:r>
            <a:endParaRPr sz="1550" b="0" i="0" u="none" strike="noStrike" cap="none">
              <a:solidFill>
                <a:srgbClr val="000000"/>
              </a:solidFill>
              <a:latin typeface="Arial"/>
              <a:ea typeface="Arial"/>
              <a:cs typeface="Arial"/>
              <a:sym typeface="Arial"/>
            </a:endParaRPr>
          </a:p>
        </p:txBody>
      </p:sp>
      <p:sp>
        <p:nvSpPr>
          <p:cNvPr id="60" name="Google Shape;60;p2"/>
          <p:cNvSpPr/>
          <p:nvPr/>
        </p:nvSpPr>
        <p:spPr>
          <a:xfrm>
            <a:off x="7564874" y="4633793"/>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Number of bedrooms</a:t>
            </a:r>
            <a:endParaRPr sz="1550" b="0" i="0" u="none" strike="noStrike" cap="none">
              <a:solidFill>
                <a:srgbClr val="000000"/>
              </a:solidFill>
              <a:latin typeface="Arial"/>
              <a:ea typeface="Arial"/>
              <a:cs typeface="Arial"/>
              <a:sym typeface="Arial"/>
            </a:endParaRPr>
          </a:p>
        </p:txBody>
      </p:sp>
      <p:sp>
        <p:nvSpPr>
          <p:cNvPr id="61" name="Google Shape;61;p2"/>
          <p:cNvSpPr/>
          <p:nvPr/>
        </p:nvSpPr>
        <p:spPr>
          <a:xfrm>
            <a:off x="7564874" y="4961215"/>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Location (e.g., school district rating)</a:t>
            </a:r>
            <a:endParaRPr sz="1550" b="0" i="0" u="none" strike="noStrike" cap="none">
              <a:solidFill>
                <a:srgbClr val="000000"/>
              </a:solidFill>
              <a:latin typeface="Arial"/>
              <a:ea typeface="Arial"/>
              <a:cs typeface="Arial"/>
              <a:sym typeface="Arial"/>
            </a:endParaRPr>
          </a:p>
        </p:txBody>
      </p:sp>
      <p:sp>
        <p:nvSpPr>
          <p:cNvPr id="62" name="Google Shape;62;p2"/>
          <p:cNvSpPr/>
          <p:nvPr/>
        </p:nvSpPr>
        <p:spPr>
          <a:xfrm>
            <a:off x="7564874" y="5288637"/>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Age of the house</a:t>
            </a:r>
            <a:endParaRPr sz="1550" b="0" i="0" u="none" strike="noStrike" cap="none">
              <a:solidFill>
                <a:srgbClr val="000000"/>
              </a:solidFill>
              <a:latin typeface="Arial"/>
              <a:ea typeface="Arial"/>
              <a:cs typeface="Arial"/>
              <a:sym typeface="Arial"/>
            </a:endParaRPr>
          </a:p>
        </p:txBody>
      </p:sp>
      <p:sp>
        <p:nvSpPr>
          <p:cNvPr id="63" name="Google Shape;63;p2"/>
          <p:cNvSpPr/>
          <p:nvPr/>
        </p:nvSpPr>
        <p:spPr>
          <a:xfrm>
            <a:off x="793790" y="5839301"/>
            <a:ext cx="13042821"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Each column represents a different feature, like bedrooms or location, that helps predict the final outcome.</a:t>
            </a:r>
            <a:endParaRPr sz="155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p:nvPr/>
        </p:nvSpPr>
        <p:spPr>
          <a:xfrm>
            <a:off x="793790" y="1619369"/>
            <a:ext cx="9581198" cy="741759"/>
          </a:xfrm>
          <a:prstGeom prst="rect">
            <a:avLst/>
          </a:prstGeom>
          <a:noFill/>
          <a:ln>
            <a:noFill/>
          </a:ln>
        </p:spPr>
        <p:txBody>
          <a:bodyPr spcFirstLastPara="1" wrap="square" lIns="0" tIns="0" rIns="0" bIns="0" anchor="t" anchorCtr="0">
            <a:noAutofit/>
          </a:bodyPr>
          <a:lstStyle/>
          <a:p>
            <a:pPr marL="0" marR="0" lvl="0" indent="0" algn="l" rtl="0">
              <a:lnSpc>
                <a:spcPct val="130337"/>
              </a:lnSpc>
              <a:spcBef>
                <a:spcPts val="0"/>
              </a:spcBef>
              <a:spcAft>
                <a:spcPts val="0"/>
              </a:spcAft>
              <a:buClr>
                <a:srgbClr val="532418"/>
              </a:buClr>
              <a:buSzPts val="4450"/>
              <a:buFont typeface="Marcellus"/>
              <a:buNone/>
            </a:pPr>
            <a:r>
              <a:rPr lang="en-US" sz="4450" b="0" i="0" u="none" strike="noStrike" cap="none">
                <a:solidFill>
                  <a:srgbClr val="532418"/>
                </a:solidFill>
                <a:latin typeface="Marcellus"/>
                <a:ea typeface="Marcellus"/>
                <a:cs typeface="Marcellus"/>
                <a:sym typeface="Marcellus"/>
              </a:rPr>
              <a:t>Why Do We Need Multiple Features?</a:t>
            </a:r>
            <a:endParaRPr sz="4450" b="0" i="0" u="none" strike="noStrike" cap="none">
              <a:solidFill>
                <a:srgbClr val="000000"/>
              </a:solidFill>
              <a:latin typeface="Arial"/>
              <a:ea typeface="Arial"/>
              <a:cs typeface="Arial"/>
              <a:sym typeface="Arial"/>
            </a:endParaRPr>
          </a:p>
        </p:txBody>
      </p:sp>
      <p:sp>
        <p:nvSpPr>
          <p:cNvPr id="70" name="Google Shape;70;p3"/>
          <p:cNvSpPr/>
          <p:nvPr/>
        </p:nvSpPr>
        <p:spPr>
          <a:xfrm>
            <a:off x="793790" y="2757964"/>
            <a:ext cx="13042821"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Real-world outcomes are complex. Predicting them accurately often requires more than just one piece of information. Think about predicting house prices:</a:t>
            </a:r>
            <a:endParaRPr sz="1550" b="0" i="0" u="none" strike="noStrike" cap="none">
              <a:solidFill>
                <a:srgbClr val="000000"/>
              </a:solidFill>
              <a:latin typeface="Arial"/>
              <a:ea typeface="Arial"/>
              <a:cs typeface="Arial"/>
              <a:sym typeface="Arial"/>
            </a:endParaRPr>
          </a:p>
        </p:txBody>
      </p:sp>
      <p:pic>
        <p:nvPicPr>
          <p:cNvPr id="71" name="Google Shape;71;p3" descr="preencoded.png"/>
          <p:cNvPicPr preferRelativeResize="0"/>
          <p:nvPr/>
        </p:nvPicPr>
        <p:blipFill rotWithShape="1">
          <a:blip r:embed="rId3">
            <a:alphaModFix/>
          </a:blip>
          <a:srcRect/>
          <a:stretch/>
        </p:blipFill>
        <p:spPr>
          <a:xfrm>
            <a:off x="793790" y="3497223"/>
            <a:ext cx="496133" cy="496133"/>
          </a:xfrm>
          <a:prstGeom prst="rect">
            <a:avLst/>
          </a:prstGeom>
          <a:noFill/>
          <a:ln>
            <a:noFill/>
          </a:ln>
        </p:spPr>
      </p:pic>
      <p:sp>
        <p:nvSpPr>
          <p:cNvPr id="72" name="Google Shape;72;p3"/>
          <p:cNvSpPr/>
          <p:nvPr/>
        </p:nvSpPr>
        <p:spPr>
          <a:xfrm>
            <a:off x="1537930" y="3608784"/>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67534F"/>
              </a:buClr>
              <a:buSzPts val="2200"/>
              <a:buFont typeface="Marcellus"/>
              <a:buNone/>
            </a:pPr>
            <a:r>
              <a:rPr lang="en-US" sz="2200" b="0" i="0" u="none" strike="noStrike" cap="none">
                <a:solidFill>
                  <a:srgbClr val="67534F"/>
                </a:solidFill>
                <a:latin typeface="Marcellus"/>
                <a:ea typeface="Marcellus"/>
                <a:cs typeface="Marcellus"/>
                <a:sym typeface="Marcellus"/>
              </a:rPr>
              <a:t>Local Economy</a:t>
            </a:r>
            <a:endParaRPr sz="2200" b="0" i="0" u="none" strike="noStrike" cap="none">
              <a:solidFill>
                <a:srgbClr val="000000"/>
              </a:solidFill>
              <a:latin typeface="Arial"/>
              <a:ea typeface="Arial"/>
              <a:cs typeface="Arial"/>
              <a:sym typeface="Arial"/>
            </a:endParaRPr>
          </a:p>
        </p:txBody>
      </p:sp>
      <p:sp>
        <p:nvSpPr>
          <p:cNvPr id="73" name="Google Shape;73;p3"/>
          <p:cNvSpPr/>
          <p:nvPr/>
        </p:nvSpPr>
        <p:spPr>
          <a:xfrm>
            <a:off x="1537930" y="4098608"/>
            <a:ext cx="5653207"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Local income levels directly impact property values.</a:t>
            </a:r>
            <a:endParaRPr sz="1550" b="0" i="0" u="none" strike="noStrike" cap="none">
              <a:solidFill>
                <a:srgbClr val="000000"/>
              </a:solidFill>
              <a:latin typeface="Arial"/>
              <a:ea typeface="Arial"/>
              <a:cs typeface="Arial"/>
              <a:sym typeface="Arial"/>
            </a:endParaRPr>
          </a:p>
        </p:txBody>
      </p:sp>
      <p:pic>
        <p:nvPicPr>
          <p:cNvPr id="74" name="Google Shape;74;p3" descr="preencoded.png"/>
          <p:cNvPicPr preferRelativeResize="0"/>
          <p:nvPr/>
        </p:nvPicPr>
        <p:blipFill rotWithShape="1">
          <a:blip r:embed="rId4">
            <a:alphaModFix/>
          </a:blip>
          <a:srcRect/>
          <a:stretch/>
        </p:blipFill>
        <p:spPr>
          <a:xfrm>
            <a:off x="7439144" y="3497223"/>
            <a:ext cx="496133" cy="496133"/>
          </a:xfrm>
          <a:prstGeom prst="rect">
            <a:avLst/>
          </a:prstGeom>
          <a:noFill/>
          <a:ln>
            <a:noFill/>
          </a:ln>
        </p:spPr>
      </p:pic>
      <p:sp>
        <p:nvSpPr>
          <p:cNvPr id="75" name="Google Shape;75;p3"/>
          <p:cNvSpPr/>
          <p:nvPr/>
        </p:nvSpPr>
        <p:spPr>
          <a:xfrm>
            <a:off x="8183285" y="3608784"/>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67534F"/>
              </a:buClr>
              <a:buSzPts val="2200"/>
              <a:buFont typeface="Marcellus"/>
              <a:buNone/>
            </a:pPr>
            <a:r>
              <a:rPr lang="en-US" sz="2200" b="0" i="0" u="none" strike="noStrike" cap="none">
                <a:solidFill>
                  <a:srgbClr val="67534F"/>
                </a:solidFill>
                <a:latin typeface="Marcellus"/>
                <a:ea typeface="Marcellus"/>
                <a:cs typeface="Marcellus"/>
                <a:sym typeface="Marcellus"/>
              </a:rPr>
              <a:t>Home Age</a:t>
            </a:r>
            <a:endParaRPr sz="2200" b="0" i="0" u="none" strike="noStrike" cap="none">
              <a:solidFill>
                <a:srgbClr val="000000"/>
              </a:solidFill>
              <a:latin typeface="Arial"/>
              <a:ea typeface="Arial"/>
              <a:cs typeface="Arial"/>
              <a:sym typeface="Arial"/>
            </a:endParaRPr>
          </a:p>
        </p:txBody>
      </p:sp>
      <p:sp>
        <p:nvSpPr>
          <p:cNvPr id="76" name="Google Shape;76;p3"/>
          <p:cNvSpPr/>
          <p:nvPr/>
        </p:nvSpPr>
        <p:spPr>
          <a:xfrm>
            <a:off x="8183285" y="4098608"/>
            <a:ext cx="5653326"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Newer homes generally sell for more; older ones might need updates.</a:t>
            </a:r>
            <a:endParaRPr sz="1550" b="0" i="0" u="none" strike="noStrike" cap="none">
              <a:solidFill>
                <a:srgbClr val="000000"/>
              </a:solidFill>
              <a:latin typeface="Arial"/>
              <a:ea typeface="Arial"/>
              <a:cs typeface="Arial"/>
              <a:sym typeface="Arial"/>
            </a:endParaRPr>
          </a:p>
        </p:txBody>
      </p:sp>
      <p:pic>
        <p:nvPicPr>
          <p:cNvPr id="77" name="Google Shape;77;p3" descr="preencoded.png"/>
          <p:cNvPicPr preferRelativeResize="0"/>
          <p:nvPr/>
        </p:nvPicPr>
        <p:blipFill rotWithShape="1">
          <a:blip r:embed="rId5">
            <a:alphaModFix/>
          </a:blip>
          <a:srcRect/>
          <a:stretch/>
        </p:blipFill>
        <p:spPr>
          <a:xfrm>
            <a:off x="793790" y="5011460"/>
            <a:ext cx="496133" cy="496133"/>
          </a:xfrm>
          <a:prstGeom prst="rect">
            <a:avLst/>
          </a:prstGeom>
          <a:noFill/>
          <a:ln>
            <a:noFill/>
          </a:ln>
        </p:spPr>
      </p:pic>
      <p:sp>
        <p:nvSpPr>
          <p:cNvPr id="78" name="Google Shape;78;p3"/>
          <p:cNvSpPr/>
          <p:nvPr/>
        </p:nvSpPr>
        <p:spPr>
          <a:xfrm>
            <a:off x="1537930" y="5123021"/>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67534F"/>
              </a:buClr>
              <a:buSzPts val="2200"/>
              <a:buFont typeface="Marcellus"/>
              <a:buNone/>
            </a:pPr>
            <a:r>
              <a:rPr lang="en-US" sz="2200" b="0" i="0" u="none" strike="noStrike" cap="none">
                <a:solidFill>
                  <a:srgbClr val="67534F"/>
                </a:solidFill>
                <a:latin typeface="Marcellus"/>
                <a:ea typeface="Marcellus"/>
                <a:cs typeface="Marcellus"/>
                <a:sym typeface="Marcellus"/>
              </a:rPr>
              <a:t>Size &amp; Rooms</a:t>
            </a:r>
            <a:endParaRPr sz="2200" b="0" i="0" u="none" strike="noStrike" cap="none">
              <a:solidFill>
                <a:srgbClr val="000000"/>
              </a:solidFill>
              <a:latin typeface="Arial"/>
              <a:ea typeface="Arial"/>
              <a:cs typeface="Arial"/>
              <a:sym typeface="Arial"/>
            </a:endParaRPr>
          </a:p>
        </p:txBody>
      </p:sp>
      <p:sp>
        <p:nvSpPr>
          <p:cNvPr id="79" name="Google Shape;79;p3"/>
          <p:cNvSpPr/>
          <p:nvPr/>
        </p:nvSpPr>
        <p:spPr>
          <a:xfrm>
            <a:off x="1537930" y="5612844"/>
            <a:ext cx="5653207"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More bedrooms and living space usually mean higher prices.</a:t>
            </a:r>
            <a:endParaRPr sz="1550" b="0" i="0" u="none" strike="noStrike" cap="none">
              <a:solidFill>
                <a:srgbClr val="000000"/>
              </a:solidFill>
              <a:latin typeface="Arial"/>
              <a:ea typeface="Arial"/>
              <a:cs typeface="Arial"/>
              <a:sym typeface="Arial"/>
            </a:endParaRPr>
          </a:p>
        </p:txBody>
      </p:sp>
      <p:pic>
        <p:nvPicPr>
          <p:cNvPr id="80" name="Google Shape;80;p3" descr="preencoded.png"/>
          <p:cNvPicPr preferRelativeResize="0"/>
          <p:nvPr/>
        </p:nvPicPr>
        <p:blipFill rotWithShape="1">
          <a:blip r:embed="rId6">
            <a:alphaModFix/>
          </a:blip>
          <a:srcRect/>
          <a:stretch/>
        </p:blipFill>
        <p:spPr>
          <a:xfrm>
            <a:off x="7439144" y="5011460"/>
            <a:ext cx="496133" cy="496133"/>
          </a:xfrm>
          <a:prstGeom prst="rect">
            <a:avLst/>
          </a:prstGeom>
          <a:noFill/>
          <a:ln>
            <a:noFill/>
          </a:ln>
        </p:spPr>
      </p:pic>
      <p:sp>
        <p:nvSpPr>
          <p:cNvPr id="81" name="Google Shape;81;p3"/>
          <p:cNvSpPr/>
          <p:nvPr/>
        </p:nvSpPr>
        <p:spPr>
          <a:xfrm>
            <a:off x="8183285" y="5123021"/>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67534F"/>
              </a:buClr>
              <a:buSzPts val="2200"/>
              <a:buFont typeface="Marcellus"/>
              <a:buNone/>
            </a:pPr>
            <a:r>
              <a:rPr lang="en-US" sz="2200" b="0" i="0" u="none" strike="noStrike" cap="none">
                <a:solidFill>
                  <a:srgbClr val="67534F"/>
                </a:solidFill>
                <a:latin typeface="Marcellus"/>
                <a:ea typeface="Marcellus"/>
                <a:cs typeface="Marcellus"/>
                <a:sym typeface="Marcellus"/>
              </a:rPr>
              <a:t>Neighborhood</a:t>
            </a:r>
            <a:endParaRPr sz="2200" b="0" i="0" u="none" strike="noStrike" cap="none">
              <a:solidFill>
                <a:srgbClr val="000000"/>
              </a:solidFill>
              <a:latin typeface="Arial"/>
              <a:ea typeface="Arial"/>
              <a:cs typeface="Arial"/>
              <a:sym typeface="Arial"/>
            </a:endParaRPr>
          </a:p>
        </p:txBody>
      </p:sp>
      <p:sp>
        <p:nvSpPr>
          <p:cNvPr id="82" name="Google Shape;82;p3"/>
          <p:cNvSpPr/>
          <p:nvPr/>
        </p:nvSpPr>
        <p:spPr>
          <a:xfrm>
            <a:off x="8183285" y="5612844"/>
            <a:ext cx="5653326"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Demand and amenities in the area affect market value.</a:t>
            </a:r>
            <a:endParaRPr sz="1550" b="0" i="0" u="none" strike="noStrike" cap="none">
              <a:solidFill>
                <a:srgbClr val="000000"/>
              </a:solidFill>
              <a:latin typeface="Arial"/>
              <a:ea typeface="Arial"/>
              <a:cs typeface="Arial"/>
              <a:sym typeface="Arial"/>
            </a:endParaRPr>
          </a:p>
        </p:txBody>
      </p:sp>
      <p:sp>
        <p:nvSpPr>
          <p:cNvPr id="83" name="Google Shape;83;p3"/>
          <p:cNvSpPr/>
          <p:nvPr/>
        </p:nvSpPr>
        <p:spPr>
          <a:xfrm>
            <a:off x="793790" y="6352103"/>
            <a:ext cx="13042821"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By combining these details, we get a far more accurate and reliable house price prediction than relying on any single factor.</a:t>
            </a:r>
            <a:endParaRPr sz="155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4"/>
          <p:cNvSpPr/>
          <p:nvPr/>
        </p:nvSpPr>
        <p:spPr>
          <a:xfrm>
            <a:off x="621387" y="427196"/>
            <a:ext cx="6237684" cy="580549"/>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532418"/>
              </a:buClr>
              <a:buSzPts val="3500"/>
              <a:buFont typeface="Marcellus"/>
              <a:buNone/>
            </a:pPr>
            <a:r>
              <a:rPr lang="en-US" sz="3500" b="0" i="0" u="none" strike="noStrike" cap="none">
                <a:solidFill>
                  <a:srgbClr val="532418"/>
                </a:solidFill>
                <a:latin typeface="Marcellus"/>
                <a:ea typeface="Marcellus"/>
                <a:cs typeface="Marcellus"/>
                <a:sym typeface="Marcellus"/>
              </a:rPr>
              <a:t>The California Housing Dataset</a:t>
            </a:r>
            <a:endParaRPr sz="3500" b="0" i="0" u="none" strike="noStrike" cap="none">
              <a:solidFill>
                <a:srgbClr val="000000"/>
              </a:solidFill>
              <a:latin typeface="Arial"/>
              <a:ea typeface="Arial"/>
              <a:cs typeface="Arial"/>
              <a:sym typeface="Arial"/>
            </a:endParaRPr>
          </a:p>
        </p:txBody>
      </p:sp>
      <p:sp>
        <p:nvSpPr>
          <p:cNvPr id="90" name="Google Shape;90;p4"/>
          <p:cNvSpPr/>
          <p:nvPr/>
        </p:nvSpPr>
        <p:spPr>
          <a:xfrm>
            <a:off x="621387" y="1318379"/>
            <a:ext cx="6616184" cy="1547574"/>
          </a:xfrm>
          <a:prstGeom prst="roundRect">
            <a:avLst>
              <a:gd name="adj" fmla="val 4216"/>
            </a:avLst>
          </a:prstGeom>
          <a:solidFill>
            <a:srgbClr val="FFFFF4"/>
          </a:solidFill>
          <a:ln w="15225" cap="flat" cmpd="sng">
            <a:solidFill>
              <a:srgbClr val="FFE0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
          <p:cNvSpPr/>
          <p:nvPr/>
        </p:nvSpPr>
        <p:spPr>
          <a:xfrm>
            <a:off x="791885" y="1488877"/>
            <a:ext cx="466011" cy="466011"/>
          </a:xfrm>
          <a:prstGeom prst="roundRect">
            <a:avLst>
              <a:gd name="adj" fmla="val 19619892"/>
            </a:avLst>
          </a:prstGeom>
          <a:solidFill>
            <a:srgbClr val="FF95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2" name="Google Shape;92;p4" descr="preencoded.png"/>
          <p:cNvPicPr preferRelativeResize="0"/>
          <p:nvPr/>
        </p:nvPicPr>
        <p:blipFill rotWithShape="1">
          <a:blip r:embed="rId3">
            <a:alphaModFix/>
          </a:blip>
          <a:srcRect/>
          <a:stretch/>
        </p:blipFill>
        <p:spPr>
          <a:xfrm>
            <a:off x="919996" y="1616988"/>
            <a:ext cx="209669" cy="209669"/>
          </a:xfrm>
          <a:prstGeom prst="rect">
            <a:avLst/>
          </a:prstGeom>
          <a:noFill/>
          <a:ln>
            <a:noFill/>
          </a:ln>
        </p:spPr>
      </p:pic>
      <p:sp>
        <p:nvSpPr>
          <p:cNvPr id="93" name="Google Shape;93;p4"/>
          <p:cNvSpPr/>
          <p:nvPr/>
        </p:nvSpPr>
        <p:spPr>
          <a:xfrm>
            <a:off x="791885" y="2110145"/>
            <a:ext cx="2233136" cy="290274"/>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67534F"/>
              </a:buClr>
              <a:buSzPts val="1750"/>
              <a:buFont typeface="Marcellus"/>
              <a:buNone/>
            </a:pPr>
            <a:r>
              <a:rPr lang="en-US" sz="1750" b="0" i="0" u="none" strike="noStrike" cap="none">
                <a:solidFill>
                  <a:srgbClr val="67534F"/>
                </a:solidFill>
                <a:latin typeface="Marcellus"/>
                <a:ea typeface="Marcellus"/>
                <a:cs typeface="Marcellus"/>
                <a:sym typeface="Marcellus"/>
              </a:rPr>
              <a:t>MedInc</a:t>
            </a:r>
            <a:endParaRPr sz="1750" b="0" i="0" u="none" strike="noStrike" cap="none">
              <a:solidFill>
                <a:srgbClr val="000000"/>
              </a:solidFill>
              <a:latin typeface="Arial"/>
              <a:ea typeface="Arial"/>
              <a:cs typeface="Arial"/>
              <a:sym typeface="Arial"/>
            </a:endParaRPr>
          </a:p>
        </p:txBody>
      </p:sp>
      <p:sp>
        <p:nvSpPr>
          <p:cNvPr id="94" name="Google Shape;94;p4"/>
          <p:cNvSpPr/>
          <p:nvPr/>
        </p:nvSpPr>
        <p:spPr>
          <a:xfrm>
            <a:off x="791885" y="2493526"/>
            <a:ext cx="6275189" cy="201930"/>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67534F"/>
              </a:buClr>
              <a:buSzPts val="1200"/>
              <a:buFont typeface="Montserrat"/>
              <a:buNone/>
            </a:pPr>
            <a:r>
              <a:rPr lang="en-US" sz="1200" b="0" i="0" u="none" strike="noStrike" cap="none">
                <a:solidFill>
                  <a:srgbClr val="67534F"/>
                </a:solidFill>
                <a:latin typeface="Montserrat"/>
                <a:ea typeface="Montserrat"/>
                <a:cs typeface="Montserrat"/>
                <a:sym typeface="Montserrat"/>
              </a:rPr>
              <a:t>Median income in block</a:t>
            </a:r>
            <a:endParaRPr sz="1200" b="0" i="0" u="none" strike="noStrike" cap="none">
              <a:solidFill>
                <a:srgbClr val="000000"/>
              </a:solidFill>
              <a:latin typeface="Arial"/>
              <a:ea typeface="Arial"/>
              <a:cs typeface="Arial"/>
              <a:sym typeface="Arial"/>
            </a:endParaRPr>
          </a:p>
        </p:txBody>
      </p:sp>
      <p:sp>
        <p:nvSpPr>
          <p:cNvPr id="95" name="Google Shape;95;p4"/>
          <p:cNvSpPr/>
          <p:nvPr/>
        </p:nvSpPr>
        <p:spPr>
          <a:xfrm>
            <a:off x="7392829" y="1318379"/>
            <a:ext cx="6616184" cy="1547574"/>
          </a:xfrm>
          <a:prstGeom prst="roundRect">
            <a:avLst>
              <a:gd name="adj" fmla="val 4216"/>
            </a:avLst>
          </a:prstGeom>
          <a:solidFill>
            <a:srgbClr val="FFFFF4"/>
          </a:solidFill>
          <a:ln w="15225" cap="flat" cmpd="sng">
            <a:solidFill>
              <a:srgbClr val="FFE0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4"/>
          <p:cNvSpPr/>
          <p:nvPr/>
        </p:nvSpPr>
        <p:spPr>
          <a:xfrm>
            <a:off x="7563326" y="1488877"/>
            <a:ext cx="466011" cy="466011"/>
          </a:xfrm>
          <a:prstGeom prst="roundRect">
            <a:avLst>
              <a:gd name="adj" fmla="val 19619892"/>
            </a:avLst>
          </a:prstGeom>
          <a:solidFill>
            <a:srgbClr val="FF95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7" name="Google Shape;97;p4" descr="preencoded.png"/>
          <p:cNvPicPr preferRelativeResize="0"/>
          <p:nvPr/>
        </p:nvPicPr>
        <p:blipFill rotWithShape="1">
          <a:blip r:embed="rId4">
            <a:alphaModFix/>
          </a:blip>
          <a:srcRect/>
          <a:stretch/>
        </p:blipFill>
        <p:spPr>
          <a:xfrm>
            <a:off x="7691438" y="1616988"/>
            <a:ext cx="209669" cy="209669"/>
          </a:xfrm>
          <a:prstGeom prst="rect">
            <a:avLst/>
          </a:prstGeom>
          <a:noFill/>
          <a:ln>
            <a:noFill/>
          </a:ln>
        </p:spPr>
      </p:pic>
      <p:sp>
        <p:nvSpPr>
          <p:cNvPr id="98" name="Google Shape;98;p4"/>
          <p:cNvSpPr/>
          <p:nvPr/>
        </p:nvSpPr>
        <p:spPr>
          <a:xfrm>
            <a:off x="7563326" y="2110145"/>
            <a:ext cx="2233136" cy="290274"/>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67534F"/>
              </a:buClr>
              <a:buSzPts val="1750"/>
              <a:buFont typeface="Marcellus"/>
              <a:buNone/>
            </a:pPr>
            <a:r>
              <a:rPr lang="en-US" sz="1750" b="0" i="0" u="none" strike="noStrike" cap="none">
                <a:solidFill>
                  <a:srgbClr val="67534F"/>
                </a:solidFill>
                <a:latin typeface="Marcellus"/>
                <a:ea typeface="Marcellus"/>
                <a:cs typeface="Marcellus"/>
                <a:sym typeface="Marcellus"/>
              </a:rPr>
              <a:t>HouseAge</a:t>
            </a:r>
            <a:endParaRPr sz="1750" b="0" i="0" u="none" strike="noStrike" cap="none">
              <a:solidFill>
                <a:srgbClr val="000000"/>
              </a:solidFill>
              <a:latin typeface="Arial"/>
              <a:ea typeface="Arial"/>
              <a:cs typeface="Arial"/>
              <a:sym typeface="Arial"/>
            </a:endParaRPr>
          </a:p>
        </p:txBody>
      </p:sp>
      <p:sp>
        <p:nvSpPr>
          <p:cNvPr id="99" name="Google Shape;99;p4"/>
          <p:cNvSpPr/>
          <p:nvPr/>
        </p:nvSpPr>
        <p:spPr>
          <a:xfrm>
            <a:off x="7563326" y="2493526"/>
            <a:ext cx="6275189" cy="201930"/>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67534F"/>
              </a:buClr>
              <a:buSzPts val="1200"/>
              <a:buFont typeface="Montserrat"/>
              <a:buNone/>
            </a:pPr>
            <a:r>
              <a:rPr lang="en-US" sz="1200" b="0" i="0" u="none" strike="noStrike" cap="none">
                <a:solidFill>
                  <a:srgbClr val="67534F"/>
                </a:solidFill>
                <a:latin typeface="Montserrat"/>
                <a:ea typeface="Montserrat"/>
                <a:cs typeface="Montserrat"/>
                <a:sym typeface="Montserrat"/>
              </a:rPr>
              <a:t>Median house age</a:t>
            </a:r>
            <a:endParaRPr sz="1200" b="0" i="0" u="none" strike="noStrike" cap="none">
              <a:solidFill>
                <a:srgbClr val="000000"/>
              </a:solidFill>
              <a:latin typeface="Arial"/>
              <a:ea typeface="Arial"/>
              <a:cs typeface="Arial"/>
              <a:sym typeface="Arial"/>
            </a:endParaRPr>
          </a:p>
        </p:txBody>
      </p:sp>
      <p:sp>
        <p:nvSpPr>
          <p:cNvPr id="100" name="Google Shape;100;p4"/>
          <p:cNvSpPr/>
          <p:nvPr/>
        </p:nvSpPr>
        <p:spPr>
          <a:xfrm>
            <a:off x="621387" y="3021211"/>
            <a:ext cx="6616184" cy="1547574"/>
          </a:xfrm>
          <a:prstGeom prst="roundRect">
            <a:avLst>
              <a:gd name="adj" fmla="val 4216"/>
            </a:avLst>
          </a:prstGeom>
          <a:solidFill>
            <a:srgbClr val="FFFFF4"/>
          </a:solidFill>
          <a:ln w="15225" cap="flat" cmpd="sng">
            <a:solidFill>
              <a:srgbClr val="FFE0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4"/>
          <p:cNvSpPr/>
          <p:nvPr/>
        </p:nvSpPr>
        <p:spPr>
          <a:xfrm>
            <a:off x="791885" y="3191708"/>
            <a:ext cx="466011" cy="466011"/>
          </a:xfrm>
          <a:prstGeom prst="roundRect">
            <a:avLst>
              <a:gd name="adj" fmla="val 19619892"/>
            </a:avLst>
          </a:prstGeom>
          <a:solidFill>
            <a:srgbClr val="FF95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2" name="Google Shape;102;p4" descr="preencoded.png"/>
          <p:cNvPicPr preferRelativeResize="0"/>
          <p:nvPr/>
        </p:nvPicPr>
        <p:blipFill rotWithShape="1">
          <a:blip r:embed="rId5">
            <a:alphaModFix/>
          </a:blip>
          <a:srcRect/>
          <a:stretch/>
        </p:blipFill>
        <p:spPr>
          <a:xfrm>
            <a:off x="919996" y="3319820"/>
            <a:ext cx="209669" cy="209669"/>
          </a:xfrm>
          <a:prstGeom prst="rect">
            <a:avLst/>
          </a:prstGeom>
          <a:noFill/>
          <a:ln>
            <a:noFill/>
          </a:ln>
        </p:spPr>
      </p:pic>
      <p:sp>
        <p:nvSpPr>
          <p:cNvPr id="103" name="Google Shape;103;p4"/>
          <p:cNvSpPr/>
          <p:nvPr/>
        </p:nvSpPr>
        <p:spPr>
          <a:xfrm>
            <a:off x="791885" y="3812977"/>
            <a:ext cx="2233136" cy="290274"/>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67534F"/>
              </a:buClr>
              <a:buSzPts val="1750"/>
              <a:buFont typeface="Marcellus"/>
              <a:buNone/>
            </a:pPr>
            <a:r>
              <a:rPr lang="en-US" sz="1750" b="0" i="0" u="none" strike="noStrike" cap="none">
                <a:solidFill>
                  <a:srgbClr val="67534F"/>
                </a:solidFill>
                <a:latin typeface="Marcellus"/>
                <a:ea typeface="Marcellus"/>
                <a:cs typeface="Marcellus"/>
                <a:sym typeface="Marcellus"/>
              </a:rPr>
              <a:t>AveRooms</a:t>
            </a:r>
            <a:endParaRPr sz="1750" b="0" i="0" u="none" strike="noStrike" cap="none">
              <a:solidFill>
                <a:srgbClr val="000000"/>
              </a:solidFill>
              <a:latin typeface="Arial"/>
              <a:ea typeface="Arial"/>
              <a:cs typeface="Arial"/>
              <a:sym typeface="Arial"/>
            </a:endParaRPr>
          </a:p>
        </p:txBody>
      </p:sp>
      <p:sp>
        <p:nvSpPr>
          <p:cNvPr id="104" name="Google Shape;104;p4"/>
          <p:cNvSpPr/>
          <p:nvPr/>
        </p:nvSpPr>
        <p:spPr>
          <a:xfrm>
            <a:off x="791885" y="4196358"/>
            <a:ext cx="6275189" cy="201930"/>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67534F"/>
              </a:buClr>
              <a:buSzPts val="1200"/>
              <a:buFont typeface="Montserrat"/>
              <a:buNone/>
            </a:pPr>
            <a:r>
              <a:rPr lang="en-US" sz="1200" b="0" i="0" u="none" strike="noStrike" cap="none">
                <a:solidFill>
                  <a:srgbClr val="67534F"/>
                </a:solidFill>
                <a:latin typeface="Montserrat"/>
                <a:ea typeface="Montserrat"/>
                <a:cs typeface="Montserrat"/>
                <a:sym typeface="Montserrat"/>
              </a:rPr>
              <a:t>Average rooms per household</a:t>
            </a:r>
            <a:endParaRPr sz="1200" b="0" i="0" u="none" strike="noStrike" cap="none">
              <a:solidFill>
                <a:srgbClr val="000000"/>
              </a:solidFill>
              <a:latin typeface="Arial"/>
              <a:ea typeface="Arial"/>
              <a:cs typeface="Arial"/>
              <a:sym typeface="Arial"/>
            </a:endParaRPr>
          </a:p>
        </p:txBody>
      </p:sp>
      <p:sp>
        <p:nvSpPr>
          <p:cNvPr id="105" name="Google Shape;105;p4"/>
          <p:cNvSpPr/>
          <p:nvPr/>
        </p:nvSpPr>
        <p:spPr>
          <a:xfrm>
            <a:off x="7392829" y="3021211"/>
            <a:ext cx="6616184" cy="1547574"/>
          </a:xfrm>
          <a:prstGeom prst="roundRect">
            <a:avLst>
              <a:gd name="adj" fmla="val 4216"/>
            </a:avLst>
          </a:prstGeom>
          <a:solidFill>
            <a:srgbClr val="FFFFF4"/>
          </a:solidFill>
          <a:ln w="15225" cap="flat" cmpd="sng">
            <a:solidFill>
              <a:srgbClr val="FFE0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4"/>
          <p:cNvSpPr/>
          <p:nvPr/>
        </p:nvSpPr>
        <p:spPr>
          <a:xfrm>
            <a:off x="7563326" y="3191708"/>
            <a:ext cx="466011" cy="466011"/>
          </a:xfrm>
          <a:prstGeom prst="roundRect">
            <a:avLst>
              <a:gd name="adj" fmla="val 19619892"/>
            </a:avLst>
          </a:prstGeom>
          <a:solidFill>
            <a:srgbClr val="FF95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7" name="Google Shape;107;p4" descr="preencoded.png"/>
          <p:cNvPicPr preferRelativeResize="0"/>
          <p:nvPr/>
        </p:nvPicPr>
        <p:blipFill rotWithShape="1">
          <a:blip r:embed="rId6">
            <a:alphaModFix/>
          </a:blip>
          <a:srcRect/>
          <a:stretch/>
        </p:blipFill>
        <p:spPr>
          <a:xfrm>
            <a:off x="7691438" y="3319820"/>
            <a:ext cx="209669" cy="209669"/>
          </a:xfrm>
          <a:prstGeom prst="rect">
            <a:avLst/>
          </a:prstGeom>
          <a:noFill/>
          <a:ln>
            <a:noFill/>
          </a:ln>
        </p:spPr>
      </p:pic>
      <p:sp>
        <p:nvSpPr>
          <p:cNvPr id="108" name="Google Shape;108;p4"/>
          <p:cNvSpPr/>
          <p:nvPr/>
        </p:nvSpPr>
        <p:spPr>
          <a:xfrm>
            <a:off x="7563326" y="3812977"/>
            <a:ext cx="2233136" cy="290274"/>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67534F"/>
              </a:buClr>
              <a:buSzPts val="1750"/>
              <a:buFont typeface="Marcellus"/>
              <a:buNone/>
            </a:pPr>
            <a:r>
              <a:rPr lang="en-US" sz="1750" b="0" i="0" u="none" strike="noStrike" cap="none">
                <a:solidFill>
                  <a:srgbClr val="67534F"/>
                </a:solidFill>
                <a:latin typeface="Marcellus"/>
                <a:ea typeface="Marcellus"/>
                <a:cs typeface="Marcellus"/>
                <a:sym typeface="Marcellus"/>
              </a:rPr>
              <a:t>AveBedrms</a:t>
            </a:r>
            <a:endParaRPr sz="1750" b="0" i="0" u="none" strike="noStrike" cap="none">
              <a:solidFill>
                <a:srgbClr val="000000"/>
              </a:solidFill>
              <a:latin typeface="Arial"/>
              <a:ea typeface="Arial"/>
              <a:cs typeface="Arial"/>
              <a:sym typeface="Arial"/>
            </a:endParaRPr>
          </a:p>
        </p:txBody>
      </p:sp>
      <p:sp>
        <p:nvSpPr>
          <p:cNvPr id="109" name="Google Shape;109;p4"/>
          <p:cNvSpPr/>
          <p:nvPr/>
        </p:nvSpPr>
        <p:spPr>
          <a:xfrm>
            <a:off x="7563326" y="4196358"/>
            <a:ext cx="6275189" cy="201930"/>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67534F"/>
              </a:buClr>
              <a:buSzPts val="1200"/>
              <a:buFont typeface="Montserrat"/>
              <a:buNone/>
            </a:pPr>
            <a:r>
              <a:rPr lang="en-US" sz="1200" b="0" i="0" u="none" strike="noStrike" cap="none">
                <a:solidFill>
                  <a:srgbClr val="67534F"/>
                </a:solidFill>
                <a:latin typeface="Montserrat"/>
                <a:ea typeface="Montserrat"/>
                <a:cs typeface="Montserrat"/>
                <a:sym typeface="Montserrat"/>
              </a:rPr>
              <a:t>Average bedrooms per household</a:t>
            </a:r>
            <a:endParaRPr sz="1200" b="0" i="0" u="none" strike="noStrike" cap="none">
              <a:solidFill>
                <a:srgbClr val="000000"/>
              </a:solidFill>
              <a:latin typeface="Arial"/>
              <a:ea typeface="Arial"/>
              <a:cs typeface="Arial"/>
              <a:sym typeface="Arial"/>
            </a:endParaRPr>
          </a:p>
        </p:txBody>
      </p:sp>
      <p:sp>
        <p:nvSpPr>
          <p:cNvPr id="110" name="Google Shape;110;p4"/>
          <p:cNvSpPr/>
          <p:nvPr/>
        </p:nvSpPr>
        <p:spPr>
          <a:xfrm>
            <a:off x="621387" y="4724043"/>
            <a:ext cx="6616184" cy="1547574"/>
          </a:xfrm>
          <a:prstGeom prst="roundRect">
            <a:avLst>
              <a:gd name="adj" fmla="val 4216"/>
            </a:avLst>
          </a:prstGeom>
          <a:solidFill>
            <a:srgbClr val="FFFFF4"/>
          </a:solidFill>
          <a:ln w="15225" cap="flat" cmpd="sng">
            <a:solidFill>
              <a:srgbClr val="FFE0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4"/>
          <p:cNvSpPr/>
          <p:nvPr/>
        </p:nvSpPr>
        <p:spPr>
          <a:xfrm>
            <a:off x="791885" y="4894540"/>
            <a:ext cx="466011" cy="466011"/>
          </a:xfrm>
          <a:prstGeom prst="roundRect">
            <a:avLst>
              <a:gd name="adj" fmla="val 19619892"/>
            </a:avLst>
          </a:prstGeom>
          <a:solidFill>
            <a:srgbClr val="FF95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2" name="Google Shape;112;p4" descr="preencoded.png"/>
          <p:cNvPicPr preferRelativeResize="0"/>
          <p:nvPr/>
        </p:nvPicPr>
        <p:blipFill rotWithShape="1">
          <a:blip r:embed="rId7">
            <a:alphaModFix/>
          </a:blip>
          <a:srcRect/>
          <a:stretch/>
        </p:blipFill>
        <p:spPr>
          <a:xfrm>
            <a:off x="919996" y="5022652"/>
            <a:ext cx="209669" cy="209669"/>
          </a:xfrm>
          <a:prstGeom prst="rect">
            <a:avLst/>
          </a:prstGeom>
          <a:noFill/>
          <a:ln>
            <a:noFill/>
          </a:ln>
        </p:spPr>
      </p:pic>
      <p:sp>
        <p:nvSpPr>
          <p:cNvPr id="113" name="Google Shape;113;p4"/>
          <p:cNvSpPr/>
          <p:nvPr/>
        </p:nvSpPr>
        <p:spPr>
          <a:xfrm>
            <a:off x="791885" y="5515808"/>
            <a:ext cx="2233136" cy="290274"/>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67534F"/>
              </a:buClr>
              <a:buSzPts val="1750"/>
              <a:buFont typeface="Marcellus"/>
              <a:buNone/>
            </a:pPr>
            <a:r>
              <a:rPr lang="en-US" sz="1750" b="0" i="0" u="none" strike="noStrike" cap="none">
                <a:solidFill>
                  <a:srgbClr val="67534F"/>
                </a:solidFill>
                <a:latin typeface="Marcellus"/>
                <a:ea typeface="Marcellus"/>
                <a:cs typeface="Marcellus"/>
                <a:sym typeface="Marcellus"/>
              </a:rPr>
              <a:t>Population</a:t>
            </a:r>
            <a:endParaRPr sz="1750" b="0" i="0" u="none" strike="noStrike" cap="none">
              <a:solidFill>
                <a:srgbClr val="000000"/>
              </a:solidFill>
              <a:latin typeface="Arial"/>
              <a:ea typeface="Arial"/>
              <a:cs typeface="Arial"/>
              <a:sym typeface="Arial"/>
            </a:endParaRPr>
          </a:p>
        </p:txBody>
      </p:sp>
      <p:sp>
        <p:nvSpPr>
          <p:cNvPr id="114" name="Google Shape;114;p4"/>
          <p:cNvSpPr/>
          <p:nvPr/>
        </p:nvSpPr>
        <p:spPr>
          <a:xfrm>
            <a:off x="791885" y="5899190"/>
            <a:ext cx="6275189" cy="201930"/>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67534F"/>
              </a:buClr>
              <a:buSzPts val="1200"/>
              <a:buFont typeface="Montserrat"/>
              <a:buNone/>
            </a:pPr>
            <a:r>
              <a:rPr lang="en-US" sz="1200" b="0" i="0" u="none" strike="noStrike" cap="none">
                <a:solidFill>
                  <a:srgbClr val="67534F"/>
                </a:solidFill>
                <a:latin typeface="Montserrat"/>
                <a:ea typeface="Montserrat"/>
                <a:cs typeface="Montserrat"/>
                <a:sym typeface="Montserrat"/>
              </a:rPr>
              <a:t>Block group population</a:t>
            </a:r>
            <a:endParaRPr sz="1200" b="0" i="0" u="none" strike="noStrike" cap="none">
              <a:solidFill>
                <a:srgbClr val="000000"/>
              </a:solidFill>
              <a:latin typeface="Arial"/>
              <a:ea typeface="Arial"/>
              <a:cs typeface="Arial"/>
              <a:sym typeface="Arial"/>
            </a:endParaRPr>
          </a:p>
        </p:txBody>
      </p:sp>
      <p:sp>
        <p:nvSpPr>
          <p:cNvPr id="115" name="Google Shape;115;p4"/>
          <p:cNvSpPr/>
          <p:nvPr/>
        </p:nvSpPr>
        <p:spPr>
          <a:xfrm>
            <a:off x="7392829" y="4724043"/>
            <a:ext cx="6616184" cy="1547574"/>
          </a:xfrm>
          <a:prstGeom prst="roundRect">
            <a:avLst>
              <a:gd name="adj" fmla="val 4216"/>
            </a:avLst>
          </a:prstGeom>
          <a:solidFill>
            <a:srgbClr val="FFFFF4"/>
          </a:solidFill>
          <a:ln w="15225" cap="flat" cmpd="sng">
            <a:solidFill>
              <a:srgbClr val="FFE0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4"/>
          <p:cNvSpPr/>
          <p:nvPr/>
        </p:nvSpPr>
        <p:spPr>
          <a:xfrm>
            <a:off x="7563326" y="4894540"/>
            <a:ext cx="466011" cy="466011"/>
          </a:xfrm>
          <a:prstGeom prst="roundRect">
            <a:avLst>
              <a:gd name="adj" fmla="val 19619892"/>
            </a:avLst>
          </a:prstGeom>
          <a:solidFill>
            <a:srgbClr val="FF95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7" name="Google Shape;117;p4" descr="preencoded.png"/>
          <p:cNvPicPr preferRelativeResize="0"/>
          <p:nvPr/>
        </p:nvPicPr>
        <p:blipFill rotWithShape="1">
          <a:blip r:embed="rId8">
            <a:alphaModFix/>
          </a:blip>
          <a:srcRect/>
          <a:stretch/>
        </p:blipFill>
        <p:spPr>
          <a:xfrm>
            <a:off x="7691438" y="5022652"/>
            <a:ext cx="209669" cy="209669"/>
          </a:xfrm>
          <a:prstGeom prst="rect">
            <a:avLst/>
          </a:prstGeom>
          <a:noFill/>
          <a:ln>
            <a:noFill/>
          </a:ln>
        </p:spPr>
      </p:pic>
      <p:sp>
        <p:nvSpPr>
          <p:cNvPr id="118" name="Google Shape;118;p4"/>
          <p:cNvSpPr/>
          <p:nvPr/>
        </p:nvSpPr>
        <p:spPr>
          <a:xfrm>
            <a:off x="7563326" y="5515808"/>
            <a:ext cx="2233136" cy="290274"/>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67534F"/>
              </a:buClr>
              <a:buSzPts val="1750"/>
              <a:buFont typeface="Marcellus"/>
              <a:buNone/>
            </a:pPr>
            <a:r>
              <a:rPr lang="en-US" sz="1750" b="0" i="0" u="none" strike="noStrike" cap="none">
                <a:solidFill>
                  <a:srgbClr val="67534F"/>
                </a:solidFill>
                <a:latin typeface="Marcellus"/>
                <a:ea typeface="Marcellus"/>
                <a:cs typeface="Marcellus"/>
                <a:sym typeface="Marcellus"/>
              </a:rPr>
              <a:t>AveOccup</a:t>
            </a:r>
            <a:endParaRPr sz="1750" b="0" i="0" u="none" strike="noStrike" cap="none">
              <a:solidFill>
                <a:srgbClr val="000000"/>
              </a:solidFill>
              <a:latin typeface="Arial"/>
              <a:ea typeface="Arial"/>
              <a:cs typeface="Arial"/>
              <a:sym typeface="Arial"/>
            </a:endParaRPr>
          </a:p>
        </p:txBody>
      </p:sp>
      <p:sp>
        <p:nvSpPr>
          <p:cNvPr id="119" name="Google Shape;119;p4"/>
          <p:cNvSpPr/>
          <p:nvPr/>
        </p:nvSpPr>
        <p:spPr>
          <a:xfrm>
            <a:off x="7563326" y="5899190"/>
            <a:ext cx="6275189" cy="201930"/>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67534F"/>
              </a:buClr>
              <a:buSzPts val="1200"/>
              <a:buFont typeface="Montserrat"/>
              <a:buNone/>
            </a:pPr>
            <a:r>
              <a:rPr lang="en-US" sz="1200" b="0" i="0" u="none" strike="noStrike" cap="none">
                <a:solidFill>
                  <a:srgbClr val="67534F"/>
                </a:solidFill>
                <a:latin typeface="Montserrat"/>
                <a:ea typeface="Montserrat"/>
                <a:cs typeface="Montserrat"/>
                <a:sym typeface="Montserrat"/>
              </a:rPr>
              <a:t>Average household occupancy</a:t>
            </a:r>
            <a:endParaRPr sz="1200" b="0" i="0" u="none" strike="noStrike" cap="none">
              <a:solidFill>
                <a:srgbClr val="000000"/>
              </a:solidFill>
              <a:latin typeface="Arial"/>
              <a:ea typeface="Arial"/>
              <a:cs typeface="Arial"/>
              <a:sym typeface="Arial"/>
            </a:endParaRPr>
          </a:p>
        </p:txBody>
      </p:sp>
      <p:sp>
        <p:nvSpPr>
          <p:cNvPr id="120" name="Google Shape;120;p4"/>
          <p:cNvSpPr/>
          <p:nvPr/>
        </p:nvSpPr>
        <p:spPr>
          <a:xfrm>
            <a:off x="621387" y="6446282"/>
            <a:ext cx="13387626" cy="403860"/>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67534F"/>
              </a:buClr>
              <a:buSzPts val="1200"/>
              <a:buFont typeface="Montserrat"/>
              <a:buNone/>
            </a:pPr>
            <a:r>
              <a:rPr lang="en-US" sz="1200" b="0" i="0" u="none" strike="noStrike" cap="none">
                <a:solidFill>
                  <a:srgbClr val="67534F"/>
                </a:solidFill>
                <a:latin typeface="Montserrat"/>
                <a:ea typeface="Montserrat"/>
                <a:cs typeface="Montserrat"/>
                <a:sym typeface="Montserrat"/>
              </a:rPr>
              <a:t>We'll explore the California Housing dataset, real data from the 1990 California census. It lists median house values across districts, alongside various features that help us understand property prices.</a:t>
            </a:r>
            <a:endParaRPr sz="1200" b="0" i="0" u="none" strike="noStrike" cap="none">
              <a:solidFill>
                <a:srgbClr val="000000"/>
              </a:solidFill>
              <a:latin typeface="Arial"/>
              <a:ea typeface="Arial"/>
              <a:cs typeface="Arial"/>
              <a:sym typeface="Arial"/>
            </a:endParaRPr>
          </a:p>
        </p:txBody>
      </p:sp>
      <p:sp>
        <p:nvSpPr>
          <p:cNvPr id="121" name="Google Shape;121;p4"/>
          <p:cNvSpPr/>
          <p:nvPr/>
        </p:nvSpPr>
        <p:spPr>
          <a:xfrm>
            <a:off x="621387" y="7024807"/>
            <a:ext cx="13387626" cy="403860"/>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67534F"/>
              </a:buClr>
              <a:buSzPts val="1200"/>
              <a:buFont typeface="Montserrat"/>
              <a:buNone/>
            </a:pPr>
            <a:r>
              <a:rPr lang="en-US" sz="1200" b="0" i="0" u="none" strike="noStrike" cap="none">
                <a:solidFill>
                  <a:srgbClr val="67534F"/>
                </a:solidFill>
                <a:latin typeface="Montserrat"/>
                <a:ea typeface="Montserrat"/>
                <a:cs typeface="Montserrat"/>
                <a:sym typeface="Montserrat"/>
              </a:rPr>
              <a:t>Each entry represents a neighborhood, and our goal is simple: predict the median house value using these available characteristics. It's a great way to see how different factors influence home prices.</a:t>
            </a:r>
            <a:endParaRPr sz="1200" b="0" i="0" u="none" strike="noStrike" cap="none">
              <a:solidFill>
                <a:srgbClr val="000000"/>
              </a:solidFill>
              <a:latin typeface="Arial"/>
              <a:ea typeface="Arial"/>
              <a:cs typeface="Arial"/>
              <a:sym typeface="Arial"/>
            </a:endParaRPr>
          </a:p>
        </p:txBody>
      </p:sp>
      <p:sp>
        <p:nvSpPr>
          <p:cNvPr id="122" name="Google Shape;122;p4"/>
          <p:cNvSpPr/>
          <p:nvPr/>
        </p:nvSpPr>
        <p:spPr>
          <a:xfrm>
            <a:off x="621387" y="7603331"/>
            <a:ext cx="13387626" cy="201930"/>
          </a:xfrm>
          <a:prstGeom prst="rect">
            <a:avLst/>
          </a:prstGeom>
          <a:noFill/>
          <a:ln>
            <a:noFill/>
          </a:ln>
        </p:spPr>
        <p:txBody>
          <a:bodyPr spcFirstLastPara="1" wrap="square" lIns="0" tIns="0" rIns="0" bIns="0" anchor="t" anchorCtr="0">
            <a:noAutofit/>
          </a:bodyPr>
          <a:lstStyle/>
          <a:p>
            <a:pPr marL="0" marR="0" lvl="0" indent="0" algn="l" rtl="0">
              <a:lnSpc>
                <a:spcPct val="129166"/>
              </a:lnSpc>
              <a:spcBef>
                <a:spcPts val="0"/>
              </a:spcBef>
              <a:spcAft>
                <a:spcPts val="0"/>
              </a:spcAft>
              <a:buClr>
                <a:srgbClr val="67534F"/>
              </a:buClr>
              <a:buSzPts val="1200"/>
              <a:buFont typeface="Montserrat"/>
              <a:buNone/>
            </a:pPr>
            <a:r>
              <a:rPr lang="en-US" sz="1200" b="0" i="0" u="none" strike="noStrike" cap="none">
                <a:solidFill>
                  <a:srgbClr val="67534F"/>
                </a:solidFill>
                <a:latin typeface="Montserrat"/>
                <a:ea typeface="Montserrat"/>
                <a:cs typeface="Montserrat"/>
                <a:sym typeface="Montserrat"/>
              </a:rPr>
              <a:t>By understanding how these features relate to each other and to house values, we can better predict what makes a home desirable and valuable.</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p:nvPr/>
        </p:nvSpPr>
        <p:spPr>
          <a:xfrm>
            <a:off x="793790" y="1355765"/>
            <a:ext cx="9030148" cy="741759"/>
          </a:xfrm>
          <a:prstGeom prst="rect">
            <a:avLst/>
          </a:prstGeom>
          <a:noFill/>
          <a:ln>
            <a:noFill/>
          </a:ln>
        </p:spPr>
        <p:txBody>
          <a:bodyPr spcFirstLastPara="1" wrap="square" lIns="0" tIns="0" rIns="0" bIns="0" anchor="t" anchorCtr="0">
            <a:noAutofit/>
          </a:bodyPr>
          <a:lstStyle/>
          <a:p>
            <a:pPr marL="0" marR="0" lvl="0" indent="0" algn="l" rtl="0">
              <a:lnSpc>
                <a:spcPct val="130337"/>
              </a:lnSpc>
              <a:spcBef>
                <a:spcPts val="0"/>
              </a:spcBef>
              <a:spcAft>
                <a:spcPts val="0"/>
              </a:spcAft>
              <a:buClr>
                <a:srgbClr val="532418"/>
              </a:buClr>
              <a:buSzPts val="4450"/>
              <a:buFont typeface="Marcellus"/>
              <a:buNone/>
            </a:pPr>
            <a:r>
              <a:rPr lang="en-US" sz="4450" b="0" i="0" u="none" strike="noStrike" cap="none" dirty="0">
                <a:solidFill>
                  <a:srgbClr val="532418"/>
                </a:solidFill>
                <a:latin typeface="Marcellus"/>
                <a:ea typeface="Marcellus"/>
                <a:cs typeface="Marcellus"/>
                <a:sym typeface="Marcellus"/>
              </a:rPr>
              <a:t>Feature Matrix and Target Vector</a:t>
            </a:r>
            <a:endParaRPr sz="4450" b="0" i="0" u="none" strike="noStrike" cap="none" dirty="0">
              <a:solidFill>
                <a:srgbClr val="000000"/>
              </a:solidFill>
              <a:latin typeface="Arial"/>
              <a:ea typeface="Arial"/>
              <a:cs typeface="Arial"/>
              <a:sym typeface="Arial"/>
            </a:endParaRPr>
          </a:p>
        </p:txBody>
      </p:sp>
      <p:sp>
        <p:nvSpPr>
          <p:cNvPr id="129" name="Google Shape;129;p5"/>
          <p:cNvSpPr/>
          <p:nvPr/>
        </p:nvSpPr>
        <p:spPr>
          <a:xfrm>
            <a:off x="793790" y="2494359"/>
            <a:ext cx="13042821"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dirty="0">
                <a:solidFill>
                  <a:srgbClr val="67534F"/>
                </a:solidFill>
                <a:latin typeface="Montserrat"/>
                <a:ea typeface="Montserrat"/>
                <a:cs typeface="Montserrat"/>
                <a:sym typeface="Montserrat"/>
              </a:rPr>
              <a:t>To predict things like house prices, we use two main ingredients: a "feature matrix" (</a:t>
            </a:r>
            <a:r>
              <a:rPr lang="en-US" sz="1550" b="1" i="0" u="none" strike="noStrike" cap="none" dirty="0">
                <a:solidFill>
                  <a:srgbClr val="67534F"/>
                </a:solidFill>
                <a:latin typeface="Montserrat"/>
                <a:ea typeface="Montserrat"/>
                <a:cs typeface="Montserrat"/>
                <a:sym typeface="Montserrat"/>
              </a:rPr>
              <a:t>X</a:t>
            </a:r>
            <a:r>
              <a:rPr lang="en-US" sz="1550" b="0" i="0" u="none" strike="noStrike" cap="none" dirty="0">
                <a:solidFill>
                  <a:srgbClr val="67534F"/>
                </a:solidFill>
                <a:latin typeface="Montserrat"/>
                <a:ea typeface="Montserrat"/>
                <a:cs typeface="Montserrat"/>
                <a:sym typeface="Montserrat"/>
              </a:rPr>
              <a:t>) and a "target vector" (</a:t>
            </a:r>
            <a:r>
              <a:rPr lang="en-US" sz="1550" b="1" i="0" u="none" strike="noStrike" cap="none" dirty="0">
                <a:solidFill>
                  <a:srgbClr val="67534F"/>
                </a:solidFill>
                <a:latin typeface="Montserrat"/>
                <a:ea typeface="Montserrat"/>
                <a:cs typeface="Montserrat"/>
                <a:sym typeface="Montserrat"/>
              </a:rPr>
              <a:t>y</a:t>
            </a:r>
            <a:r>
              <a:rPr lang="en-US" sz="1550" b="0" i="0" u="none" strike="noStrike" cap="none" dirty="0">
                <a:solidFill>
                  <a:srgbClr val="67534F"/>
                </a:solidFill>
                <a:latin typeface="Montserrat"/>
                <a:ea typeface="Montserrat"/>
                <a:cs typeface="Montserrat"/>
                <a:sym typeface="Montserrat"/>
              </a:rPr>
              <a:t>).</a:t>
            </a:r>
            <a:endParaRPr sz="1550" b="0" i="0" u="none" strike="noStrike" cap="none" dirty="0">
              <a:solidFill>
                <a:srgbClr val="000000"/>
              </a:solidFill>
              <a:latin typeface="Arial"/>
              <a:ea typeface="Arial"/>
              <a:cs typeface="Arial"/>
              <a:sym typeface="Arial"/>
            </a:endParaRPr>
          </a:p>
        </p:txBody>
      </p:sp>
      <p:sp>
        <p:nvSpPr>
          <p:cNvPr id="130" name="Google Shape;130;p5"/>
          <p:cNvSpPr/>
          <p:nvPr/>
        </p:nvSpPr>
        <p:spPr>
          <a:xfrm>
            <a:off x="793790" y="2975610"/>
            <a:ext cx="13042821"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Think of </a:t>
            </a:r>
            <a:r>
              <a:rPr lang="en-US" sz="1550" b="1" i="0" u="none" strike="noStrike" cap="none">
                <a:solidFill>
                  <a:srgbClr val="67534F"/>
                </a:solidFill>
                <a:latin typeface="Montserrat"/>
                <a:ea typeface="Montserrat"/>
                <a:cs typeface="Montserrat"/>
                <a:sym typeface="Montserrat"/>
              </a:rPr>
              <a:t>X</a:t>
            </a:r>
            <a:r>
              <a:rPr lang="en-US" sz="1550" b="0" i="0" u="none" strike="noStrike" cap="none">
                <a:solidFill>
                  <a:srgbClr val="67534F"/>
                </a:solidFill>
                <a:latin typeface="Montserrat"/>
                <a:ea typeface="Montserrat"/>
                <a:cs typeface="Montserrat"/>
                <a:sym typeface="Montserrat"/>
              </a:rPr>
              <a:t> as a spreadsheet of information. Each row is a unique item (like one house), and each column is a piece of data about that item (like its size, age, or neighborhood).</a:t>
            </a:r>
            <a:endParaRPr sz="1550" b="0" i="0" u="none" strike="noStrike" cap="none">
              <a:solidFill>
                <a:srgbClr val="000000"/>
              </a:solidFill>
              <a:latin typeface="Arial"/>
              <a:ea typeface="Arial"/>
              <a:cs typeface="Arial"/>
              <a:sym typeface="Arial"/>
            </a:endParaRPr>
          </a:p>
        </p:txBody>
      </p:sp>
      <p:sp>
        <p:nvSpPr>
          <p:cNvPr id="131" name="Google Shape;131;p5"/>
          <p:cNvSpPr/>
          <p:nvPr/>
        </p:nvSpPr>
        <p:spPr>
          <a:xfrm>
            <a:off x="793790" y="3714869"/>
            <a:ext cx="13042821"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The </a:t>
            </a:r>
            <a:r>
              <a:rPr lang="en-US" sz="1550" b="1" i="0" u="none" strike="noStrike" cap="none">
                <a:solidFill>
                  <a:srgbClr val="67534F"/>
                </a:solidFill>
                <a:latin typeface="Montserrat"/>
                <a:ea typeface="Montserrat"/>
                <a:cs typeface="Montserrat"/>
                <a:sym typeface="Montserrat"/>
              </a:rPr>
              <a:t>y</a:t>
            </a:r>
            <a:r>
              <a:rPr lang="en-US" sz="1550" b="0" i="0" u="none" strike="noStrike" cap="none">
                <a:solidFill>
                  <a:srgbClr val="67534F"/>
                </a:solidFill>
                <a:latin typeface="Montserrat"/>
                <a:ea typeface="Montserrat"/>
                <a:cs typeface="Montserrat"/>
                <a:sym typeface="Montserrat"/>
              </a:rPr>
              <a:t> is the answer key—the actual value we want to predict for each item in </a:t>
            </a:r>
            <a:r>
              <a:rPr lang="en-US" sz="1550" b="1" i="0" u="none" strike="noStrike" cap="none">
                <a:solidFill>
                  <a:srgbClr val="67534F"/>
                </a:solidFill>
                <a:latin typeface="Montserrat"/>
                <a:ea typeface="Montserrat"/>
                <a:cs typeface="Montserrat"/>
                <a:sym typeface="Montserrat"/>
              </a:rPr>
              <a:t>X</a:t>
            </a:r>
            <a:r>
              <a:rPr lang="en-US" sz="1550" b="0" i="0" u="none" strike="noStrike" cap="none">
                <a:solidFill>
                  <a:srgbClr val="67534F"/>
                </a:solidFill>
                <a:latin typeface="Montserrat"/>
                <a:ea typeface="Montserrat"/>
                <a:cs typeface="Montserrat"/>
                <a:sym typeface="Montserrat"/>
              </a:rPr>
              <a:t> (e.g., the actual price of each house).</a:t>
            </a:r>
            <a:endParaRPr sz="1550" b="0" i="0" u="none" strike="noStrike" cap="none">
              <a:solidFill>
                <a:srgbClr val="000000"/>
              </a:solidFill>
              <a:latin typeface="Arial"/>
              <a:ea typeface="Arial"/>
              <a:cs typeface="Arial"/>
              <a:sym typeface="Arial"/>
            </a:endParaRPr>
          </a:p>
        </p:txBody>
      </p:sp>
      <p:sp>
        <p:nvSpPr>
          <p:cNvPr id="132" name="Google Shape;132;p5"/>
          <p:cNvSpPr/>
          <p:nvPr/>
        </p:nvSpPr>
        <p:spPr>
          <a:xfrm>
            <a:off x="793790" y="4196120"/>
            <a:ext cx="13042821"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Our goal is for a model to learn how to combine the data in </a:t>
            </a:r>
            <a:r>
              <a:rPr lang="en-US" sz="1550" b="1" i="0" u="none" strike="noStrike" cap="none">
                <a:solidFill>
                  <a:srgbClr val="67534F"/>
                </a:solidFill>
                <a:latin typeface="Montserrat"/>
                <a:ea typeface="Montserrat"/>
                <a:cs typeface="Montserrat"/>
                <a:sym typeface="Montserrat"/>
              </a:rPr>
              <a:t>X</a:t>
            </a:r>
            <a:r>
              <a:rPr lang="en-US" sz="1550" b="0" i="0" u="none" strike="noStrike" cap="none">
                <a:solidFill>
                  <a:srgbClr val="67534F"/>
                </a:solidFill>
                <a:latin typeface="Montserrat"/>
                <a:ea typeface="Montserrat"/>
                <a:cs typeface="Montserrat"/>
                <a:sym typeface="Montserrat"/>
              </a:rPr>
              <a:t> to guess the values in </a:t>
            </a:r>
            <a:r>
              <a:rPr lang="en-US" sz="1550" b="1" i="0" u="none" strike="noStrike" cap="none">
                <a:solidFill>
                  <a:srgbClr val="67534F"/>
                </a:solidFill>
                <a:latin typeface="Montserrat"/>
                <a:ea typeface="Montserrat"/>
                <a:cs typeface="Montserrat"/>
                <a:sym typeface="Montserrat"/>
              </a:rPr>
              <a:t>y</a:t>
            </a:r>
            <a:r>
              <a:rPr lang="en-US" sz="1550" b="0" i="0" u="none" strike="noStrike" cap="none">
                <a:solidFill>
                  <a:srgbClr val="67534F"/>
                </a:solidFill>
                <a:latin typeface="Montserrat"/>
                <a:ea typeface="Montserrat"/>
                <a:cs typeface="Montserrat"/>
                <a:sym typeface="Montserrat"/>
              </a:rPr>
              <a:t> as accurately as possible.</a:t>
            </a:r>
            <a:endParaRPr sz="1550" b="0" i="0" u="none" strike="noStrike" cap="none">
              <a:solidFill>
                <a:srgbClr val="000000"/>
              </a:solidFill>
              <a:latin typeface="Arial"/>
              <a:ea typeface="Arial"/>
              <a:cs typeface="Arial"/>
              <a:sym typeface="Arial"/>
            </a:endParaRPr>
          </a:p>
        </p:txBody>
      </p:sp>
      <p:pic>
        <p:nvPicPr>
          <p:cNvPr id="133" name="Google Shape;133;p5" descr="preencoded.png"/>
          <p:cNvPicPr preferRelativeResize="0"/>
          <p:nvPr/>
        </p:nvPicPr>
        <p:blipFill rotWithShape="1">
          <a:blip r:embed="rId3">
            <a:alphaModFix/>
          </a:blip>
          <a:srcRect/>
          <a:stretch/>
        </p:blipFill>
        <p:spPr>
          <a:xfrm>
            <a:off x="793790" y="4677370"/>
            <a:ext cx="4347567" cy="793790"/>
          </a:xfrm>
          <a:prstGeom prst="rect">
            <a:avLst/>
          </a:prstGeom>
          <a:noFill/>
          <a:ln>
            <a:noFill/>
          </a:ln>
        </p:spPr>
      </p:pic>
      <p:sp>
        <p:nvSpPr>
          <p:cNvPr id="134" name="Google Shape;134;p5"/>
          <p:cNvSpPr/>
          <p:nvPr/>
        </p:nvSpPr>
        <p:spPr>
          <a:xfrm>
            <a:off x="992148" y="5669518"/>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67534F"/>
              </a:buClr>
              <a:buSzPts val="2200"/>
              <a:buFont typeface="Marcellus"/>
              <a:buNone/>
            </a:pPr>
            <a:r>
              <a:rPr lang="en-US" sz="2200" b="0" i="0" u="none" strike="noStrike" cap="none">
                <a:solidFill>
                  <a:srgbClr val="67534F"/>
                </a:solidFill>
                <a:latin typeface="Marcellus"/>
                <a:ea typeface="Marcellus"/>
                <a:cs typeface="Marcellus"/>
                <a:sym typeface="Marcellus"/>
              </a:rPr>
              <a:t>Feature Matrix (X)</a:t>
            </a:r>
            <a:endParaRPr sz="2200" b="0" i="0" u="none" strike="noStrike" cap="none">
              <a:solidFill>
                <a:srgbClr val="000000"/>
              </a:solidFill>
              <a:latin typeface="Arial"/>
              <a:ea typeface="Arial"/>
              <a:cs typeface="Arial"/>
              <a:sym typeface="Arial"/>
            </a:endParaRPr>
          </a:p>
        </p:txBody>
      </p:sp>
      <p:sp>
        <p:nvSpPr>
          <p:cNvPr id="135" name="Google Shape;135;p5"/>
          <p:cNvSpPr/>
          <p:nvPr/>
        </p:nvSpPr>
        <p:spPr>
          <a:xfrm>
            <a:off x="992148" y="6159341"/>
            <a:ext cx="3950851"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All the data points and their characteristics.</a:t>
            </a:r>
            <a:endParaRPr sz="1550" b="0" i="0" u="none" strike="noStrike" cap="none">
              <a:solidFill>
                <a:srgbClr val="000000"/>
              </a:solidFill>
              <a:latin typeface="Arial"/>
              <a:ea typeface="Arial"/>
              <a:cs typeface="Arial"/>
              <a:sym typeface="Arial"/>
            </a:endParaRPr>
          </a:p>
        </p:txBody>
      </p:sp>
      <p:pic>
        <p:nvPicPr>
          <p:cNvPr id="136" name="Google Shape;136;p5" descr="preencoded.png"/>
          <p:cNvPicPr preferRelativeResize="0"/>
          <p:nvPr/>
        </p:nvPicPr>
        <p:blipFill rotWithShape="1">
          <a:blip r:embed="rId4">
            <a:alphaModFix/>
          </a:blip>
          <a:srcRect/>
          <a:stretch/>
        </p:blipFill>
        <p:spPr>
          <a:xfrm>
            <a:off x="5141357" y="4677370"/>
            <a:ext cx="4347567" cy="793790"/>
          </a:xfrm>
          <a:prstGeom prst="rect">
            <a:avLst/>
          </a:prstGeom>
          <a:noFill/>
          <a:ln>
            <a:noFill/>
          </a:ln>
        </p:spPr>
      </p:pic>
      <p:sp>
        <p:nvSpPr>
          <p:cNvPr id="137" name="Google Shape;137;p5"/>
          <p:cNvSpPr/>
          <p:nvPr/>
        </p:nvSpPr>
        <p:spPr>
          <a:xfrm>
            <a:off x="5339715" y="5669518"/>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67534F"/>
              </a:buClr>
              <a:buSzPts val="2200"/>
              <a:buFont typeface="Marcellus"/>
              <a:buNone/>
            </a:pPr>
            <a:r>
              <a:rPr lang="en-US" sz="2200" b="0" i="0" u="none" strike="noStrike" cap="none">
                <a:solidFill>
                  <a:srgbClr val="67534F"/>
                </a:solidFill>
                <a:latin typeface="Marcellus"/>
                <a:ea typeface="Marcellus"/>
                <a:cs typeface="Marcellus"/>
                <a:sym typeface="Marcellus"/>
              </a:rPr>
              <a:t>Model Learns</a:t>
            </a:r>
            <a:endParaRPr sz="2200" b="0" i="0" u="none" strike="noStrike" cap="none">
              <a:solidFill>
                <a:srgbClr val="000000"/>
              </a:solidFill>
              <a:latin typeface="Arial"/>
              <a:ea typeface="Arial"/>
              <a:cs typeface="Arial"/>
              <a:sym typeface="Arial"/>
            </a:endParaRPr>
          </a:p>
        </p:txBody>
      </p:sp>
      <p:sp>
        <p:nvSpPr>
          <p:cNvPr id="138" name="Google Shape;138;p5"/>
          <p:cNvSpPr/>
          <p:nvPr/>
        </p:nvSpPr>
        <p:spPr>
          <a:xfrm>
            <a:off x="5339715" y="6159341"/>
            <a:ext cx="3950851"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Finds patterns in X to predict Y.</a:t>
            </a:r>
            <a:endParaRPr sz="1550" b="0" i="0" u="none" strike="noStrike" cap="none">
              <a:solidFill>
                <a:srgbClr val="000000"/>
              </a:solidFill>
              <a:latin typeface="Arial"/>
              <a:ea typeface="Arial"/>
              <a:cs typeface="Arial"/>
              <a:sym typeface="Arial"/>
            </a:endParaRPr>
          </a:p>
        </p:txBody>
      </p:sp>
      <p:pic>
        <p:nvPicPr>
          <p:cNvPr id="139" name="Google Shape;139;p5" descr="preencoded.png"/>
          <p:cNvPicPr preferRelativeResize="0"/>
          <p:nvPr/>
        </p:nvPicPr>
        <p:blipFill rotWithShape="1">
          <a:blip r:embed="rId5">
            <a:alphaModFix/>
          </a:blip>
          <a:srcRect/>
          <a:stretch/>
        </p:blipFill>
        <p:spPr>
          <a:xfrm>
            <a:off x="9488924" y="4677370"/>
            <a:ext cx="4347567" cy="793790"/>
          </a:xfrm>
          <a:prstGeom prst="rect">
            <a:avLst/>
          </a:prstGeom>
          <a:noFill/>
          <a:ln>
            <a:noFill/>
          </a:ln>
        </p:spPr>
      </p:pic>
      <p:sp>
        <p:nvSpPr>
          <p:cNvPr id="140" name="Google Shape;140;p5"/>
          <p:cNvSpPr/>
          <p:nvPr/>
        </p:nvSpPr>
        <p:spPr>
          <a:xfrm>
            <a:off x="9687282" y="5669518"/>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67534F"/>
              </a:buClr>
              <a:buSzPts val="2200"/>
              <a:buFont typeface="Marcellus"/>
              <a:buNone/>
            </a:pPr>
            <a:r>
              <a:rPr lang="en-US" sz="2200" b="0" i="0" u="none" strike="noStrike" cap="none">
                <a:solidFill>
                  <a:srgbClr val="67534F"/>
                </a:solidFill>
                <a:latin typeface="Marcellus"/>
                <a:ea typeface="Marcellus"/>
                <a:cs typeface="Marcellus"/>
                <a:sym typeface="Marcellus"/>
              </a:rPr>
              <a:t>Target Vector (Y)</a:t>
            </a:r>
            <a:endParaRPr sz="2200" b="0" i="0" u="none" strike="noStrike" cap="none">
              <a:solidFill>
                <a:srgbClr val="000000"/>
              </a:solidFill>
              <a:latin typeface="Arial"/>
              <a:ea typeface="Arial"/>
              <a:cs typeface="Arial"/>
              <a:sym typeface="Arial"/>
            </a:endParaRPr>
          </a:p>
        </p:txBody>
      </p:sp>
      <p:sp>
        <p:nvSpPr>
          <p:cNvPr id="141" name="Google Shape;141;p5"/>
          <p:cNvSpPr/>
          <p:nvPr/>
        </p:nvSpPr>
        <p:spPr>
          <a:xfrm>
            <a:off x="9687282" y="6159341"/>
            <a:ext cx="3950851"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What we want to predict.</a:t>
            </a:r>
            <a:endParaRPr sz="155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p:nvPr/>
        </p:nvSpPr>
        <p:spPr>
          <a:xfrm>
            <a:off x="793790" y="563880"/>
            <a:ext cx="11470005" cy="741759"/>
          </a:xfrm>
          <a:prstGeom prst="rect">
            <a:avLst/>
          </a:prstGeom>
          <a:noFill/>
          <a:ln>
            <a:noFill/>
          </a:ln>
        </p:spPr>
        <p:txBody>
          <a:bodyPr spcFirstLastPara="1" wrap="square" lIns="0" tIns="0" rIns="0" bIns="0" anchor="t" anchorCtr="0">
            <a:noAutofit/>
          </a:bodyPr>
          <a:lstStyle/>
          <a:p>
            <a:pPr marL="0" marR="0" lvl="0" indent="0" algn="l" rtl="0">
              <a:lnSpc>
                <a:spcPct val="130337"/>
              </a:lnSpc>
              <a:spcBef>
                <a:spcPts val="0"/>
              </a:spcBef>
              <a:spcAft>
                <a:spcPts val="0"/>
              </a:spcAft>
              <a:buClr>
                <a:srgbClr val="532418"/>
              </a:buClr>
              <a:buSzPts val="4450"/>
              <a:buFont typeface="Marcellus"/>
              <a:buNone/>
            </a:pPr>
            <a:r>
              <a:rPr lang="en-US" sz="4450" b="0" i="0" u="none" strike="noStrike" cap="none">
                <a:solidFill>
                  <a:srgbClr val="532418"/>
                </a:solidFill>
                <a:latin typeface="Marcellus"/>
                <a:ea typeface="Marcellus"/>
                <a:cs typeface="Marcellus"/>
                <a:sym typeface="Marcellus"/>
              </a:rPr>
              <a:t>Feature Matrix and Target Vector - Example</a:t>
            </a:r>
            <a:endParaRPr sz="4450" b="0" i="0" u="none" strike="noStrike" cap="none">
              <a:solidFill>
                <a:srgbClr val="000000"/>
              </a:solidFill>
              <a:latin typeface="Arial"/>
              <a:ea typeface="Arial"/>
              <a:cs typeface="Arial"/>
              <a:sym typeface="Arial"/>
            </a:endParaRPr>
          </a:p>
        </p:txBody>
      </p:sp>
      <p:sp>
        <p:nvSpPr>
          <p:cNvPr id="148" name="Google Shape;148;p6"/>
          <p:cNvSpPr/>
          <p:nvPr/>
        </p:nvSpPr>
        <p:spPr>
          <a:xfrm>
            <a:off x="793790" y="1702475"/>
            <a:ext cx="13042821"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Let's see this in action with a simple house price example:</a:t>
            </a:r>
            <a:endParaRPr sz="1550" b="0" i="0" u="none" strike="noStrike" cap="none">
              <a:solidFill>
                <a:srgbClr val="000000"/>
              </a:solidFill>
              <a:latin typeface="Arial"/>
              <a:ea typeface="Arial"/>
              <a:cs typeface="Arial"/>
              <a:sym typeface="Arial"/>
            </a:endParaRPr>
          </a:p>
        </p:txBody>
      </p:sp>
      <p:sp>
        <p:nvSpPr>
          <p:cNvPr id="149" name="Google Shape;149;p6"/>
          <p:cNvSpPr/>
          <p:nvPr/>
        </p:nvSpPr>
        <p:spPr>
          <a:xfrm>
            <a:off x="793790" y="2183725"/>
            <a:ext cx="13042821" cy="1549360"/>
          </a:xfrm>
          <a:prstGeom prst="roundRect">
            <a:avLst>
              <a:gd name="adj" fmla="val 5380"/>
            </a:avLst>
          </a:prstGeom>
          <a:noFill/>
          <a:ln w="9525" cap="flat" cmpd="sng">
            <a:solidFill>
              <a:srgbClr val="000000">
                <a:alpha val="745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6"/>
          <p:cNvSpPr/>
          <p:nvPr/>
        </p:nvSpPr>
        <p:spPr>
          <a:xfrm>
            <a:off x="801410" y="2191345"/>
            <a:ext cx="13027581" cy="511373"/>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6"/>
          <p:cNvSpPr/>
          <p:nvPr/>
        </p:nvSpPr>
        <p:spPr>
          <a:xfrm>
            <a:off x="1000006" y="2318028"/>
            <a:ext cx="285630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1000</a:t>
            </a:r>
            <a:endParaRPr sz="1550" b="0" i="0" u="none" strike="noStrike" cap="none">
              <a:solidFill>
                <a:srgbClr val="000000"/>
              </a:solidFill>
              <a:latin typeface="Arial"/>
              <a:ea typeface="Arial"/>
              <a:cs typeface="Arial"/>
              <a:sym typeface="Arial"/>
            </a:endParaRPr>
          </a:p>
        </p:txBody>
      </p:sp>
      <p:sp>
        <p:nvSpPr>
          <p:cNvPr id="152" name="Google Shape;152;p6"/>
          <p:cNvSpPr/>
          <p:nvPr/>
        </p:nvSpPr>
        <p:spPr>
          <a:xfrm>
            <a:off x="4260652" y="2318028"/>
            <a:ext cx="285249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2</a:t>
            </a:r>
            <a:endParaRPr sz="1550" b="0" i="0" u="none" strike="noStrike" cap="none">
              <a:solidFill>
                <a:srgbClr val="000000"/>
              </a:solidFill>
              <a:latin typeface="Arial"/>
              <a:ea typeface="Arial"/>
              <a:cs typeface="Arial"/>
              <a:sym typeface="Arial"/>
            </a:endParaRPr>
          </a:p>
        </p:txBody>
      </p:sp>
      <p:sp>
        <p:nvSpPr>
          <p:cNvPr id="153" name="Google Shape;153;p6"/>
          <p:cNvSpPr/>
          <p:nvPr/>
        </p:nvSpPr>
        <p:spPr>
          <a:xfrm>
            <a:off x="7517487" y="2318028"/>
            <a:ext cx="285249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10</a:t>
            </a:r>
            <a:endParaRPr sz="1550" b="0" i="0" u="none" strike="noStrike" cap="none">
              <a:solidFill>
                <a:srgbClr val="000000"/>
              </a:solidFill>
              <a:latin typeface="Arial"/>
              <a:ea typeface="Arial"/>
              <a:cs typeface="Arial"/>
              <a:sym typeface="Arial"/>
            </a:endParaRPr>
          </a:p>
        </p:txBody>
      </p:sp>
      <p:sp>
        <p:nvSpPr>
          <p:cNvPr id="154" name="Google Shape;154;p6"/>
          <p:cNvSpPr/>
          <p:nvPr/>
        </p:nvSpPr>
        <p:spPr>
          <a:xfrm>
            <a:off x="10774323" y="2318028"/>
            <a:ext cx="285630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55</a:t>
            </a:r>
            <a:endParaRPr sz="1550" b="0" i="0" u="none" strike="noStrike" cap="none">
              <a:solidFill>
                <a:srgbClr val="000000"/>
              </a:solidFill>
              <a:latin typeface="Arial"/>
              <a:ea typeface="Arial"/>
              <a:cs typeface="Arial"/>
              <a:sym typeface="Arial"/>
            </a:endParaRPr>
          </a:p>
        </p:txBody>
      </p:sp>
      <p:sp>
        <p:nvSpPr>
          <p:cNvPr id="155" name="Google Shape;155;p6"/>
          <p:cNvSpPr/>
          <p:nvPr/>
        </p:nvSpPr>
        <p:spPr>
          <a:xfrm>
            <a:off x="801410" y="2702719"/>
            <a:ext cx="13027581" cy="511373"/>
          </a:xfrm>
          <a:prstGeom prst="rect">
            <a:avLst/>
          </a:prstGeom>
          <a:solidFill>
            <a:srgbClr val="000000">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6"/>
          <p:cNvSpPr/>
          <p:nvPr/>
        </p:nvSpPr>
        <p:spPr>
          <a:xfrm>
            <a:off x="1000006" y="2829401"/>
            <a:ext cx="285630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1500</a:t>
            </a:r>
            <a:endParaRPr sz="1550" b="0" i="0" u="none" strike="noStrike" cap="none">
              <a:solidFill>
                <a:srgbClr val="000000"/>
              </a:solidFill>
              <a:latin typeface="Arial"/>
              <a:ea typeface="Arial"/>
              <a:cs typeface="Arial"/>
              <a:sym typeface="Arial"/>
            </a:endParaRPr>
          </a:p>
        </p:txBody>
      </p:sp>
      <p:sp>
        <p:nvSpPr>
          <p:cNvPr id="157" name="Google Shape;157;p6"/>
          <p:cNvSpPr/>
          <p:nvPr/>
        </p:nvSpPr>
        <p:spPr>
          <a:xfrm>
            <a:off x="4260652" y="2829401"/>
            <a:ext cx="285249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3</a:t>
            </a:r>
            <a:endParaRPr sz="1550" b="0" i="0" u="none" strike="noStrike" cap="none">
              <a:solidFill>
                <a:srgbClr val="000000"/>
              </a:solidFill>
              <a:latin typeface="Arial"/>
              <a:ea typeface="Arial"/>
              <a:cs typeface="Arial"/>
              <a:sym typeface="Arial"/>
            </a:endParaRPr>
          </a:p>
        </p:txBody>
      </p:sp>
      <p:sp>
        <p:nvSpPr>
          <p:cNvPr id="158" name="Google Shape;158;p6"/>
          <p:cNvSpPr/>
          <p:nvPr/>
        </p:nvSpPr>
        <p:spPr>
          <a:xfrm>
            <a:off x="7517487" y="2829401"/>
            <a:ext cx="285249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5</a:t>
            </a:r>
            <a:endParaRPr sz="1550" b="0" i="0" u="none" strike="noStrike" cap="none">
              <a:solidFill>
                <a:srgbClr val="000000"/>
              </a:solidFill>
              <a:latin typeface="Arial"/>
              <a:ea typeface="Arial"/>
              <a:cs typeface="Arial"/>
              <a:sym typeface="Arial"/>
            </a:endParaRPr>
          </a:p>
        </p:txBody>
      </p:sp>
      <p:sp>
        <p:nvSpPr>
          <p:cNvPr id="159" name="Google Shape;159;p6"/>
          <p:cNvSpPr/>
          <p:nvPr/>
        </p:nvSpPr>
        <p:spPr>
          <a:xfrm>
            <a:off x="10774323" y="2829401"/>
            <a:ext cx="285630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82</a:t>
            </a:r>
            <a:endParaRPr sz="1550" b="0" i="0" u="none" strike="noStrike" cap="none">
              <a:solidFill>
                <a:srgbClr val="000000"/>
              </a:solidFill>
              <a:latin typeface="Arial"/>
              <a:ea typeface="Arial"/>
              <a:cs typeface="Arial"/>
              <a:sym typeface="Arial"/>
            </a:endParaRPr>
          </a:p>
        </p:txBody>
      </p:sp>
      <p:sp>
        <p:nvSpPr>
          <p:cNvPr id="160" name="Google Shape;160;p6"/>
          <p:cNvSpPr/>
          <p:nvPr/>
        </p:nvSpPr>
        <p:spPr>
          <a:xfrm>
            <a:off x="801410" y="3214092"/>
            <a:ext cx="13027581" cy="511373"/>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6"/>
          <p:cNvSpPr/>
          <p:nvPr/>
        </p:nvSpPr>
        <p:spPr>
          <a:xfrm>
            <a:off x="1000006" y="3340775"/>
            <a:ext cx="285630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800</a:t>
            </a:r>
            <a:endParaRPr sz="1550" b="0" i="0" u="none" strike="noStrike" cap="none">
              <a:solidFill>
                <a:srgbClr val="000000"/>
              </a:solidFill>
              <a:latin typeface="Arial"/>
              <a:ea typeface="Arial"/>
              <a:cs typeface="Arial"/>
              <a:sym typeface="Arial"/>
            </a:endParaRPr>
          </a:p>
        </p:txBody>
      </p:sp>
      <p:sp>
        <p:nvSpPr>
          <p:cNvPr id="162" name="Google Shape;162;p6"/>
          <p:cNvSpPr/>
          <p:nvPr/>
        </p:nvSpPr>
        <p:spPr>
          <a:xfrm>
            <a:off x="4260652" y="3340775"/>
            <a:ext cx="285249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2</a:t>
            </a:r>
            <a:endParaRPr sz="1550" b="0" i="0" u="none" strike="noStrike" cap="none">
              <a:solidFill>
                <a:srgbClr val="000000"/>
              </a:solidFill>
              <a:latin typeface="Arial"/>
              <a:ea typeface="Arial"/>
              <a:cs typeface="Arial"/>
              <a:sym typeface="Arial"/>
            </a:endParaRPr>
          </a:p>
        </p:txBody>
      </p:sp>
      <p:sp>
        <p:nvSpPr>
          <p:cNvPr id="163" name="Google Shape;163;p6"/>
          <p:cNvSpPr/>
          <p:nvPr/>
        </p:nvSpPr>
        <p:spPr>
          <a:xfrm>
            <a:off x="7517487" y="3340775"/>
            <a:ext cx="285249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20</a:t>
            </a:r>
            <a:endParaRPr sz="1550" b="0" i="0" u="none" strike="noStrike" cap="none">
              <a:solidFill>
                <a:srgbClr val="000000"/>
              </a:solidFill>
              <a:latin typeface="Arial"/>
              <a:ea typeface="Arial"/>
              <a:cs typeface="Arial"/>
              <a:sym typeface="Arial"/>
            </a:endParaRPr>
          </a:p>
        </p:txBody>
      </p:sp>
      <p:sp>
        <p:nvSpPr>
          <p:cNvPr id="164" name="Google Shape;164;p6"/>
          <p:cNvSpPr/>
          <p:nvPr/>
        </p:nvSpPr>
        <p:spPr>
          <a:xfrm>
            <a:off x="10774323" y="3340775"/>
            <a:ext cx="2856309"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40</a:t>
            </a:r>
            <a:endParaRPr sz="1550" b="0" i="0" u="none" strike="noStrike" cap="none">
              <a:solidFill>
                <a:srgbClr val="000000"/>
              </a:solidFill>
              <a:latin typeface="Arial"/>
              <a:ea typeface="Arial"/>
              <a:cs typeface="Arial"/>
              <a:sym typeface="Arial"/>
            </a:endParaRPr>
          </a:p>
        </p:txBody>
      </p:sp>
      <p:sp>
        <p:nvSpPr>
          <p:cNvPr id="165" name="Google Shape;165;p6"/>
          <p:cNvSpPr/>
          <p:nvPr/>
        </p:nvSpPr>
        <p:spPr>
          <a:xfrm>
            <a:off x="793790" y="4154686"/>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532418"/>
              </a:buClr>
              <a:buSzPts val="2200"/>
              <a:buFont typeface="Marcellus"/>
              <a:buNone/>
            </a:pPr>
            <a:r>
              <a:rPr lang="en-US" sz="2200" b="0" i="0" u="none" strike="noStrike" cap="none">
                <a:solidFill>
                  <a:srgbClr val="532418"/>
                </a:solidFill>
                <a:latin typeface="Marcellus"/>
                <a:ea typeface="Marcellus"/>
                <a:cs typeface="Marcellus"/>
                <a:sym typeface="Marcellus"/>
              </a:rPr>
              <a:t>Feature Matrix (X)</a:t>
            </a:r>
            <a:endParaRPr sz="2200" b="0" i="0" u="none" strike="noStrike" cap="none">
              <a:solidFill>
                <a:srgbClr val="000000"/>
              </a:solidFill>
              <a:latin typeface="Arial"/>
              <a:ea typeface="Arial"/>
              <a:cs typeface="Arial"/>
              <a:sym typeface="Arial"/>
            </a:endParaRPr>
          </a:p>
        </p:txBody>
      </p:sp>
      <p:sp>
        <p:nvSpPr>
          <p:cNvPr id="166" name="Google Shape;166;p6"/>
          <p:cNvSpPr/>
          <p:nvPr/>
        </p:nvSpPr>
        <p:spPr>
          <a:xfrm>
            <a:off x="793790" y="4723805"/>
            <a:ext cx="6279356"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The first three columns become our X - all the information we know about each house:</a:t>
            </a:r>
            <a:endParaRPr sz="1550" b="0" i="0" u="none" strike="noStrike" cap="none">
              <a:solidFill>
                <a:srgbClr val="000000"/>
              </a:solidFill>
              <a:latin typeface="Arial"/>
              <a:ea typeface="Arial"/>
              <a:cs typeface="Arial"/>
              <a:sym typeface="Arial"/>
            </a:endParaRPr>
          </a:p>
        </p:txBody>
      </p:sp>
      <p:sp>
        <p:nvSpPr>
          <p:cNvPr id="167" name="Google Shape;167;p6"/>
          <p:cNvSpPr/>
          <p:nvPr/>
        </p:nvSpPr>
        <p:spPr>
          <a:xfrm>
            <a:off x="793790" y="5418415"/>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House 1: 1000 sq ft, 2 bedrooms, 10 years old</a:t>
            </a:r>
            <a:endParaRPr sz="1550" b="0" i="0" u="none" strike="noStrike" cap="none">
              <a:solidFill>
                <a:srgbClr val="000000"/>
              </a:solidFill>
              <a:latin typeface="Arial"/>
              <a:ea typeface="Arial"/>
              <a:cs typeface="Arial"/>
              <a:sym typeface="Arial"/>
            </a:endParaRPr>
          </a:p>
        </p:txBody>
      </p:sp>
      <p:sp>
        <p:nvSpPr>
          <p:cNvPr id="168" name="Google Shape;168;p6"/>
          <p:cNvSpPr/>
          <p:nvPr/>
        </p:nvSpPr>
        <p:spPr>
          <a:xfrm>
            <a:off x="793790" y="5745837"/>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House 2: 1500 sq ft, 3 bedrooms, 5 years old</a:t>
            </a:r>
            <a:endParaRPr sz="1550" b="0" i="0" u="none" strike="noStrike" cap="none">
              <a:solidFill>
                <a:srgbClr val="000000"/>
              </a:solidFill>
              <a:latin typeface="Arial"/>
              <a:ea typeface="Arial"/>
              <a:cs typeface="Arial"/>
              <a:sym typeface="Arial"/>
            </a:endParaRPr>
          </a:p>
        </p:txBody>
      </p:sp>
      <p:sp>
        <p:nvSpPr>
          <p:cNvPr id="169" name="Google Shape;169;p6"/>
          <p:cNvSpPr/>
          <p:nvPr/>
        </p:nvSpPr>
        <p:spPr>
          <a:xfrm>
            <a:off x="793790" y="6073259"/>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House 3: 800 sq ft, 2 bedrooms, 20 years old</a:t>
            </a:r>
            <a:endParaRPr sz="1550" b="0" i="0" u="none" strike="noStrike" cap="none">
              <a:solidFill>
                <a:srgbClr val="000000"/>
              </a:solidFill>
              <a:latin typeface="Arial"/>
              <a:ea typeface="Arial"/>
              <a:cs typeface="Arial"/>
              <a:sym typeface="Arial"/>
            </a:endParaRPr>
          </a:p>
        </p:txBody>
      </p:sp>
      <p:sp>
        <p:nvSpPr>
          <p:cNvPr id="170" name="Google Shape;170;p6"/>
          <p:cNvSpPr/>
          <p:nvPr/>
        </p:nvSpPr>
        <p:spPr>
          <a:xfrm>
            <a:off x="7564874" y="4154686"/>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532418"/>
              </a:buClr>
              <a:buSzPts val="2200"/>
              <a:buFont typeface="Marcellus"/>
              <a:buNone/>
            </a:pPr>
            <a:r>
              <a:rPr lang="en-US" sz="2200" b="0" i="0" u="none" strike="noStrike" cap="none">
                <a:solidFill>
                  <a:srgbClr val="532418"/>
                </a:solidFill>
                <a:latin typeface="Marcellus"/>
                <a:ea typeface="Marcellus"/>
                <a:cs typeface="Marcellus"/>
                <a:sym typeface="Marcellus"/>
              </a:rPr>
              <a:t>Target Vector (y)</a:t>
            </a:r>
            <a:endParaRPr sz="2200" b="0" i="0" u="none" strike="noStrike" cap="none">
              <a:solidFill>
                <a:srgbClr val="000000"/>
              </a:solidFill>
              <a:latin typeface="Arial"/>
              <a:ea typeface="Arial"/>
              <a:cs typeface="Arial"/>
              <a:sym typeface="Arial"/>
            </a:endParaRPr>
          </a:p>
        </p:txBody>
      </p:sp>
      <p:sp>
        <p:nvSpPr>
          <p:cNvPr id="171" name="Google Shape;171;p6"/>
          <p:cNvSpPr/>
          <p:nvPr/>
        </p:nvSpPr>
        <p:spPr>
          <a:xfrm>
            <a:off x="7564874" y="4723805"/>
            <a:ext cx="6279356"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The last column is our y - what we want to predict:</a:t>
            </a:r>
            <a:endParaRPr sz="1550" b="0" i="0" u="none" strike="noStrike" cap="none">
              <a:solidFill>
                <a:srgbClr val="000000"/>
              </a:solidFill>
              <a:latin typeface="Arial"/>
              <a:ea typeface="Arial"/>
              <a:cs typeface="Arial"/>
              <a:sym typeface="Arial"/>
            </a:endParaRPr>
          </a:p>
        </p:txBody>
      </p:sp>
      <p:sp>
        <p:nvSpPr>
          <p:cNvPr id="172" name="Google Shape;172;p6"/>
          <p:cNvSpPr/>
          <p:nvPr/>
        </p:nvSpPr>
        <p:spPr>
          <a:xfrm>
            <a:off x="7564874" y="5160407"/>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House 1: $55,000</a:t>
            </a:r>
            <a:endParaRPr sz="1550" b="0" i="0" u="none" strike="noStrike" cap="none">
              <a:solidFill>
                <a:srgbClr val="000000"/>
              </a:solidFill>
              <a:latin typeface="Arial"/>
              <a:ea typeface="Arial"/>
              <a:cs typeface="Arial"/>
              <a:sym typeface="Arial"/>
            </a:endParaRPr>
          </a:p>
        </p:txBody>
      </p:sp>
      <p:sp>
        <p:nvSpPr>
          <p:cNvPr id="173" name="Google Shape;173;p6"/>
          <p:cNvSpPr/>
          <p:nvPr/>
        </p:nvSpPr>
        <p:spPr>
          <a:xfrm>
            <a:off x="7564874" y="5487829"/>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House 2: $82,000</a:t>
            </a:r>
            <a:endParaRPr sz="1550" b="0" i="0" u="none" strike="noStrike" cap="none">
              <a:solidFill>
                <a:srgbClr val="000000"/>
              </a:solidFill>
              <a:latin typeface="Arial"/>
              <a:ea typeface="Arial"/>
              <a:cs typeface="Arial"/>
              <a:sym typeface="Arial"/>
            </a:endParaRPr>
          </a:p>
        </p:txBody>
      </p:sp>
      <p:sp>
        <p:nvSpPr>
          <p:cNvPr id="174" name="Google Shape;174;p6"/>
          <p:cNvSpPr/>
          <p:nvPr/>
        </p:nvSpPr>
        <p:spPr>
          <a:xfrm>
            <a:off x="7564874" y="5815251"/>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House 3: $40,000</a:t>
            </a:r>
            <a:endParaRPr sz="1550" b="0" i="0" u="none" strike="noStrike" cap="none">
              <a:solidFill>
                <a:srgbClr val="000000"/>
              </a:solidFill>
              <a:latin typeface="Arial"/>
              <a:ea typeface="Arial"/>
              <a:cs typeface="Arial"/>
              <a:sym typeface="Arial"/>
            </a:endParaRPr>
          </a:p>
        </p:txBody>
      </p:sp>
      <p:sp>
        <p:nvSpPr>
          <p:cNvPr id="175" name="Google Shape;175;p6"/>
          <p:cNvSpPr/>
          <p:nvPr/>
        </p:nvSpPr>
        <p:spPr>
          <a:xfrm>
            <a:off x="793790" y="6623923"/>
            <a:ext cx="13042821" cy="1041678"/>
          </a:xfrm>
          <a:prstGeom prst="roundRect">
            <a:avLst>
              <a:gd name="adj" fmla="val 8002"/>
            </a:avLst>
          </a:prstGeom>
          <a:solidFill>
            <a:srgbClr val="FFD1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6" name="Google Shape;176;p6" descr="preencoded.png"/>
          <p:cNvPicPr preferRelativeResize="0"/>
          <p:nvPr/>
        </p:nvPicPr>
        <p:blipFill rotWithShape="1">
          <a:blip r:embed="rId3">
            <a:alphaModFix/>
          </a:blip>
          <a:srcRect/>
          <a:stretch/>
        </p:blipFill>
        <p:spPr>
          <a:xfrm>
            <a:off x="992148" y="6888718"/>
            <a:ext cx="248007" cy="198358"/>
          </a:xfrm>
          <a:prstGeom prst="rect">
            <a:avLst/>
          </a:prstGeom>
          <a:noFill/>
          <a:ln>
            <a:noFill/>
          </a:ln>
        </p:spPr>
      </p:pic>
      <p:sp>
        <p:nvSpPr>
          <p:cNvPr id="177" name="Google Shape;177;p6"/>
          <p:cNvSpPr/>
          <p:nvPr/>
        </p:nvSpPr>
        <p:spPr>
          <a:xfrm>
            <a:off x="1438513" y="6871811"/>
            <a:ext cx="12199739"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000000"/>
              </a:buClr>
              <a:buSzPts val="1550"/>
              <a:buFont typeface="Montserrat"/>
              <a:buNone/>
            </a:pPr>
            <a:r>
              <a:rPr lang="en-US" sz="1550" b="0" i="0" u="none" strike="noStrike" cap="none">
                <a:solidFill>
                  <a:srgbClr val="000000"/>
                </a:solidFill>
                <a:latin typeface="Montserrat"/>
                <a:ea typeface="Montserrat"/>
                <a:cs typeface="Montserrat"/>
                <a:sym typeface="Montserrat"/>
              </a:rPr>
              <a:t>Goal: The model learns how size, bedrooms, and age combine to predict price. Once trained, give it new house features and it predicts the price!</a:t>
            </a:r>
            <a:endParaRPr sz="155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7"/>
          <p:cNvSpPr/>
          <p:nvPr/>
        </p:nvSpPr>
        <p:spPr>
          <a:xfrm>
            <a:off x="793790" y="1928813"/>
            <a:ext cx="11304865" cy="741759"/>
          </a:xfrm>
          <a:prstGeom prst="rect">
            <a:avLst/>
          </a:prstGeom>
          <a:noFill/>
          <a:ln>
            <a:noFill/>
          </a:ln>
        </p:spPr>
        <p:txBody>
          <a:bodyPr spcFirstLastPara="1" wrap="square" lIns="0" tIns="0" rIns="0" bIns="0" anchor="t" anchorCtr="0">
            <a:noAutofit/>
          </a:bodyPr>
          <a:lstStyle/>
          <a:p>
            <a:pPr marL="0" marR="0" lvl="0" indent="0" algn="l" rtl="0">
              <a:lnSpc>
                <a:spcPct val="130337"/>
              </a:lnSpc>
              <a:spcBef>
                <a:spcPts val="0"/>
              </a:spcBef>
              <a:spcAft>
                <a:spcPts val="0"/>
              </a:spcAft>
              <a:buClr>
                <a:srgbClr val="532418"/>
              </a:buClr>
              <a:buSzPts val="4450"/>
              <a:buFont typeface="Marcellus"/>
              <a:buNone/>
            </a:pPr>
            <a:r>
              <a:rPr lang="en-US" sz="4450" b="0" i="0" u="none" strike="noStrike" cap="none">
                <a:solidFill>
                  <a:srgbClr val="532418"/>
                </a:solidFill>
                <a:latin typeface="Marcellus"/>
                <a:ea typeface="Marcellus"/>
                <a:cs typeface="Marcellus"/>
                <a:sym typeface="Marcellus"/>
              </a:rPr>
              <a:t>Finding the Best Fit: The Hyperplane in MLR</a:t>
            </a:r>
            <a:endParaRPr sz="4450" b="0" i="0" u="none" strike="noStrike" cap="none">
              <a:solidFill>
                <a:srgbClr val="000000"/>
              </a:solidFill>
              <a:latin typeface="Arial"/>
              <a:ea typeface="Arial"/>
              <a:cs typeface="Arial"/>
              <a:sym typeface="Arial"/>
            </a:endParaRPr>
          </a:p>
        </p:txBody>
      </p:sp>
      <p:sp>
        <p:nvSpPr>
          <p:cNvPr id="184" name="Google Shape;184;p7"/>
          <p:cNvSpPr/>
          <p:nvPr/>
        </p:nvSpPr>
        <p:spPr>
          <a:xfrm>
            <a:off x="793790" y="3067407"/>
            <a:ext cx="13042821"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Think of simple prediction as drawing a straight line. With Multiple Linear Regression (MLR) and many factors, we fit a more complex "hyperplane"—a multi-dimensional line—to capture all the relationships in our data.</a:t>
            </a:r>
            <a:endParaRPr sz="1550" b="0" i="0" u="none" strike="noStrike" cap="none">
              <a:solidFill>
                <a:srgbClr val="000000"/>
              </a:solidFill>
              <a:latin typeface="Arial"/>
              <a:ea typeface="Arial"/>
              <a:cs typeface="Arial"/>
              <a:sym typeface="Arial"/>
            </a:endParaRPr>
          </a:p>
        </p:txBody>
      </p:sp>
      <p:sp>
        <p:nvSpPr>
          <p:cNvPr id="185" name="Google Shape;185;p7"/>
          <p:cNvSpPr/>
          <p:nvPr/>
        </p:nvSpPr>
        <p:spPr>
          <a:xfrm>
            <a:off x="793790" y="4005024"/>
            <a:ext cx="3469362"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532418"/>
              </a:buClr>
              <a:buSzPts val="2200"/>
              <a:buFont typeface="Marcellus"/>
              <a:buNone/>
            </a:pPr>
            <a:r>
              <a:rPr lang="en-US" sz="2200" b="0" i="0" u="none" strike="noStrike" cap="none">
                <a:solidFill>
                  <a:srgbClr val="532418"/>
                </a:solidFill>
                <a:latin typeface="Marcellus"/>
                <a:ea typeface="Marcellus"/>
                <a:cs typeface="Marcellus"/>
                <a:sym typeface="Marcellus"/>
              </a:rPr>
              <a:t>The "Recipe" for Prediction</a:t>
            </a:r>
            <a:endParaRPr sz="2200" b="0" i="0" u="none" strike="noStrike" cap="none">
              <a:solidFill>
                <a:srgbClr val="000000"/>
              </a:solidFill>
              <a:latin typeface="Arial"/>
              <a:ea typeface="Arial"/>
              <a:cs typeface="Arial"/>
              <a:sym typeface="Arial"/>
            </a:endParaRPr>
          </a:p>
        </p:txBody>
      </p:sp>
      <p:sp>
        <p:nvSpPr>
          <p:cNvPr id="186" name="Google Shape;186;p7"/>
          <p:cNvSpPr/>
          <p:nvPr/>
        </p:nvSpPr>
        <p:spPr>
          <a:xfrm>
            <a:off x="793790" y="4574143"/>
            <a:ext cx="6279356" cy="1290042"/>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MLR's goal is to find the perfect "recipe" (combination of weights) for each factor. It constantly adjusts these weights to make its predictions as close as possible to the actual results. Imagine a chef tweaking ingredients until the dish tastes just right.</a:t>
            </a:r>
            <a:endParaRPr sz="1550" b="0" i="0" u="none" strike="noStrike" cap="none">
              <a:solidFill>
                <a:srgbClr val="000000"/>
              </a:solidFill>
              <a:latin typeface="Arial"/>
              <a:ea typeface="Arial"/>
              <a:cs typeface="Arial"/>
              <a:sym typeface="Arial"/>
            </a:endParaRPr>
          </a:p>
        </p:txBody>
      </p:sp>
      <p:sp>
        <p:nvSpPr>
          <p:cNvPr id="187" name="Google Shape;187;p7"/>
          <p:cNvSpPr/>
          <p:nvPr/>
        </p:nvSpPr>
        <p:spPr>
          <a:xfrm>
            <a:off x="7564874" y="4005024"/>
            <a:ext cx="3011091"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532418"/>
              </a:buClr>
              <a:buSzPts val="2200"/>
              <a:buFont typeface="Marcellus"/>
              <a:buNone/>
            </a:pPr>
            <a:r>
              <a:rPr lang="en-US" sz="2200" b="0" i="0" u="none" strike="noStrike" cap="none">
                <a:solidFill>
                  <a:srgbClr val="532418"/>
                </a:solidFill>
                <a:latin typeface="Marcellus"/>
                <a:ea typeface="Marcellus"/>
                <a:cs typeface="Marcellus"/>
                <a:sym typeface="Marcellus"/>
              </a:rPr>
              <a:t>Learning from Mistakes</a:t>
            </a:r>
            <a:endParaRPr sz="2200" b="0" i="0" u="none" strike="noStrike" cap="none">
              <a:solidFill>
                <a:srgbClr val="000000"/>
              </a:solidFill>
              <a:latin typeface="Arial"/>
              <a:ea typeface="Arial"/>
              <a:cs typeface="Arial"/>
              <a:sym typeface="Arial"/>
            </a:endParaRPr>
          </a:p>
        </p:txBody>
      </p:sp>
      <p:sp>
        <p:nvSpPr>
          <p:cNvPr id="188" name="Google Shape;188;p7"/>
          <p:cNvSpPr/>
          <p:nvPr/>
        </p:nvSpPr>
        <p:spPr>
          <a:xfrm>
            <a:off x="7564874" y="4574143"/>
            <a:ext cx="6279356" cy="1548051"/>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The model learns by testing different weight combinations, much like a student trying various approaches to a math problem. It identifies and minimizes errors in its predictions. Once trained, it has a reliable formula: give it new information (e.g., house size, location) and it can predict the outcome (e.g., house price).</a:t>
            </a:r>
            <a:endParaRPr sz="155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8"/>
          <p:cNvSpPr/>
          <p:nvPr/>
        </p:nvSpPr>
        <p:spPr>
          <a:xfrm>
            <a:off x="793790" y="560784"/>
            <a:ext cx="13042821" cy="1483519"/>
          </a:xfrm>
          <a:prstGeom prst="rect">
            <a:avLst/>
          </a:prstGeom>
          <a:noFill/>
          <a:ln>
            <a:noFill/>
          </a:ln>
        </p:spPr>
        <p:txBody>
          <a:bodyPr spcFirstLastPara="1" wrap="square" lIns="0" tIns="0" rIns="0" bIns="0" anchor="t" anchorCtr="0">
            <a:noAutofit/>
          </a:bodyPr>
          <a:lstStyle/>
          <a:p>
            <a:pPr marL="0" marR="0" lvl="0" indent="0" algn="l" rtl="0">
              <a:lnSpc>
                <a:spcPct val="130337"/>
              </a:lnSpc>
              <a:spcBef>
                <a:spcPts val="0"/>
              </a:spcBef>
              <a:spcAft>
                <a:spcPts val="0"/>
              </a:spcAft>
              <a:buClr>
                <a:srgbClr val="532418"/>
              </a:buClr>
              <a:buSzPts val="4450"/>
              <a:buFont typeface="Marcellus"/>
              <a:buNone/>
            </a:pPr>
            <a:r>
              <a:rPr lang="en-US" sz="4450" b="0" i="0" u="none" strike="noStrike" cap="none">
                <a:solidFill>
                  <a:srgbClr val="532418"/>
                </a:solidFill>
                <a:latin typeface="Marcellus"/>
                <a:ea typeface="Marcellus"/>
                <a:cs typeface="Marcellus"/>
                <a:sym typeface="Marcellus"/>
              </a:rPr>
              <a:t>Example: Predicting House Price with Two Features</a:t>
            </a:r>
            <a:endParaRPr sz="4450" b="0" i="0" u="none" strike="noStrike" cap="none">
              <a:solidFill>
                <a:srgbClr val="000000"/>
              </a:solidFill>
              <a:latin typeface="Arial"/>
              <a:ea typeface="Arial"/>
              <a:cs typeface="Arial"/>
              <a:sym typeface="Arial"/>
            </a:endParaRPr>
          </a:p>
        </p:txBody>
      </p:sp>
      <p:sp>
        <p:nvSpPr>
          <p:cNvPr id="195" name="Google Shape;195;p8"/>
          <p:cNvSpPr/>
          <p:nvPr/>
        </p:nvSpPr>
        <p:spPr>
          <a:xfrm>
            <a:off x="793790" y="2441138"/>
            <a:ext cx="13042821" cy="258008"/>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Suppose we want to predict house price using only two features: Size (in sqft) and Number of Bedrooms.</a:t>
            </a:r>
            <a:endParaRPr sz="1550" b="0" i="0" u="none" strike="noStrike" cap="none">
              <a:solidFill>
                <a:srgbClr val="000000"/>
              </a:solidFill>
              <a:latin typeface="Arial"/>
              <a:ea typeface="Arial"/>
              <a:cs typeface="Arial"/>
              <a:sym typeface="Arial"/>
            </a:endParaRPr>
          </a:p>
        </p:txBody>
      </p:sp>
      <p:sp>
        <p:nvSpPr>
          <p:cNvPr id="196" name="Google Shape;196;p8"/>
          <p:cNvSpPr/>
          <p:nvPr/>
        </p:nvSpPr>
        <p:spPr>
          <a:xfrm>
            <a:off x="793790" y="2922389"/>
            <a:ext cx="13042821" cy="1041678"/>
          </a:xfrm>
          <a:prstGeom prst="roundRect">
            <a:avLst>
              <a:gd name="adj" fmla="val 8002"/>
            </a:avLst>
          </a:prstGeom>
          <a:solidFill>
            <a:srgbClr val="FFD1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7" name="Google Shape;197;p8" descr="preencoded.png"/>
          <p:cNvPicPr preferRelativeResize="0"/>
          <p:nvPr/>
        </p:nvPicPr>
        <p:blipFill rotWithShape="1">
          <a:blip r:embed="rId3">
            <a:alphaModFix/>
          </a:blip>
          <a:srcRect/>
          <a:stretch/>
        </p:blipFill>
        <p:spPr>
          <a:xfrm>
            <a:off x="992148" y="3187184"/>
            <a:ext cx="248007" cy="198358"/>
          </a:xfrm>
          <a:prstGeom prst="rect">
            <a:avLst/>
          </a:prstGeom>
          <a:noFill/>
          <a:ln>
            <a:noFill/>
          </a:ln>
        </p:spPr>
      </p:pic>
      <p:sp>
        <p:nvSpPr>
          <p:cNvPr id="198" name="Google Shape;198;p8"/>
          <p:cNvSpPr/>
          <p:nvPr/>
        </p:nvSpPr>
        <p:spPr>
          <a:xfrm>
            <a:off x="1438513" y="3170277"/>
            <a:ext cx="12199739"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000000"/>
              </a:buClr>
              <a:buSzPts val="1550"/>
              <a:buFont typeface="Montserrat"/>
              <a:buNone/>
            </a:pPr>
            <a:r>
              <a:rPr lang="en-US" sz="1550" b="0" i="0" u="none" strike="noStrike" cap="none">
                <a:solidFill>
                  <a:srgbClr val="000000"/>
                </a:solidFill>
                <a:latin typeface="Montserrat"/>
                <a:ea typeface="Montserrat"/>
                <a:cs typeface="Montserrat"/>
                <a:sym typeface="Montserrat"/>
              </a:rPr>
              <a:t>Your model might learn something like this:Price = 20 + 0.05(Size) + 5(Bedrooms)</a:t>
            </a:r>
            <a:endParaRPr sz="1550" b="0" i="0" u="none" strike="noStrike" cap="none">
              <a:solidFill>
                <a:srgbClr val="000000"/>
              </a:solidFill>
              <a:latin typeface="Arial"/>
              <a:ea typeface="Arial"/>
              <a:cs typeface="Arial"/>
              <a:sym typeface="Arial"/>
            </a:endParaRPr>
          </a:p>
        </p:txBody>
      </p:sp>
      <p:sp>
        <p:nvSpPr>
          <p:cNvPr id="199" name="Google Shape;199;p8"/>
          <p:cNvSpPr/>
          <p:nvPr/>
        </p:nvSpPr>
        <p:spPr>
          <a:xfrm>
            <a:off x="793790" y="4385667"/>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532418"/>
              </a:buClr>
              <a:buSzPts val="2200"/>
              <a:buFont typeface="Marcellus"/>
              <a:buNone/>
            </a:pPr>
            <a:r>
              <a:rPr lang="en-US" sz="2200" b="0" i="0" u="none" strike="noStrike" cap="none">
                <a:solidFill>
                  <a:srgbClr val="532418"/>
                </a:solidFill>
                <a:latin typeface="Marcellus"/>
                <a:ea typeface="Marcellus"/>
                <a:cs typeface="Marcellus"/>
                <a:sym typeface="Marcellus"/>
              </a:rPr>
              <a:t>For House A:</a:t>
            </a:r>
            <a:endParaRPr sz="2200" b="0" i="0" u="none" strike="noStrike" cap="none">
              <a:solidFill>
                <a:srgbClr val="000000"/>
              </a:solidFill>
              <a:latin typeface="Arial"/>
              <a:ea typeface="Arial"/>
              <a:cs typeface="Arial"/>
              <a:sym typeface="Arial"/>
            </a:endParaRPr>
          </a:p>
        </p:txBody>
      </p:sp>
      <p:sp>
        <p:nvSpPr>
          <p:cNvPr id="200" name="Google Shape;200;p8"/>
          <p:cNvSpPr/>
          <p:nvPr/>
        </p:nvSpPr>
        <p:spPr>
          <a:xfrm>
            <a:off x="793790" y="4954786"/>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Size = 1000 sqft</a:t>
            </a:r>
            <a:endParaRPr sz="1550" b="0" i="0" u="none" strike="noStrike" cap="none">
              <a:solidFill>
                <a:srgbClr val="000000"/>
              </a:solidFill>
              <a:latin typeface="Arial"/>
              <a:ea typeface="Arial"/>
              <a:cs typeface="Arial"/>
              <a:sym typeface="Arial"/>
            </a:endParaRPr>
          </a:p>
        </p:txBody>
      </p:sp>
      <p:sp>
        <p:nvSpPr>
          <p:cNvPr id="201" name="Google Shape;201;p8"/>
          <p:cNvSpPr/>
          <p:nvPr/>
        </p:nvSpPr>
        <p:spPr>
          <a:xfrm>
            <a:off x="793790" y="5282208"/>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Bedrooms = 2</a:t>
            </a:r>
            <a:endParaRPr sz="1550" b="0" i="0" u="none" strike="noStrike" cap="none">
              <a:solidFill>
                <a:srgbClr val="000000"/>
              </a:solidFill>
              <a:latin typeface="Arial"/>
              <a:ea typeface="Arial"/>
              <a:cs typeface="Arial"/>
              <a:sym typeface="Arial"/>
            </a:endParaRPr>
          </a:p>
        </p:txBody>
      </p:sp>
      <p:sp>
        <p:nvSpPr>
          <p:cNvPr id="202" name="Google Shape;202;p8"/>
          <p:cNvSpPr/>
          <p:nvPr/>
        </p:nvSpPr>
        <p:spPr>
          <a:xfrm>
            <a:off x="793790" y="5718810"/>
            <a:ext cx="6279356" cy="1032034"/>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1" i="0" u="none" strike="noStrike" cap="none">
                <a:solidFill>
                  <a:srgbClr val="67534F"/>
                </a:solidFill>
                <a:latin typeface="Montserrat"/>
                <a:ea typeface="Montserrat"/>
                <a:cs typeface="Montserrat"/>
                <a:sym typeface="Montserrat"/>
              </a:rPr>
              <a:t>Prediction:</a:t>
            </a:r>
            <a:r>
              <a:rPr lang="en-US" sz="1550" b="0" i="0" u="none" strike="noStrike" cap="none">
                <a:solidFill>
                  <a:srgbClr val="67534F"/>
                </a:solidFill>
                <a:latin typeface="Montserrat"/>
                <a:ea typeface="Montserrat"/>
                <a:cs typeface="Montserrat"/>
                <a:sym typeface="Montserrat"/>
              </a:rPr>
              <a:t>20 + 0.05(1000) + 5(2)= 20 + 50 + 10= 80 lakh Tk</a:t>
            </a:r>
            <a:endParaRPr sz="1550" b="0" i="0" u="none" strike="noStrike" cap="none">
              <a:solidFill>
                <a:srgbClr val="000000"/>
              </a:solidFill>
              <a:latin typeface="Arial"/>
              <a:ea typeface="Arial"/>
              <a:cs typeface="Arial"/>
              <a:sym typeface="Arial"/>
            </a:endParaRPr>
          </a:p>
        </p:txBody>
      </p:sp>
      <p:sp>
        <p:nvSpPr>
          <p:cNvPr id="203" name="Google Shape;203;p8"/>
          <p:cNvSpPr/>
          <p:nvPr/>
        </p:nvSpPr>
        <p:spPr>
          <a:xfrm>
            <a:off x="7564874" y="4385667"/>
            <a:ext cx="2852976" cy="370761"/>
          </a:xfrm>
          <a:prstGeom prst="rect">
            <a:avLst/>
          </a:prstGeom>
          <a:noFill/>
          <a:ln>
            <a:noFill/>
          </a:ln>
        </p:spPr>
        <p:txBody>
          <a:bodyPr spcFirstLastPara="1" wrap="square" lIns="0" tIns="0" rIns="0" bIns="0" anchor="t" anchorCtr="0">
            <a:noAutofit/>
          </a:bodyPr>
          <a:lstStyle/>
          <a:p>
            <a:pPr marL="0" marR="0" lvl="0" indent="0" algn="l" rtl="0">
              <a:lnSpc>
                <a:spcPct val="131818"/>
              </a:lnSpc>
              <a:spcBef>
                <a:spcPts val="0"/>
              </a:spcBef>
              <a:spcAft>
                <a:spcPts val="0"/>
              </a:spcAft>
              <a:buClr>
                <a:srgbClr val="532418"/>
              </a:buClr>
              <a:buSzPts val="2200"/>
              <a:buFont typeface="Marcellus"/>
              <a:buNone/>
            </a:pPr>
            <a:r>
              <a:rPr lang="en-US" sz="2200" b="0" i="0" u="none" strike="noStrike" cap="none">
                <a:solidFill>
                  <a:srgbClr val="532418"/>
                </a:solidFill>
                <a:latin typeface="Marcellus"/>
                <a:ea typeface="Marcellus"/>
                <a:cs typeface="Marcellus"/>
                <a:sym typeface="Marcellus"/>
              </a:rPr>
              <a:t>For House B:</a:t>
            </a:r>
            <a:endParaRPr sz="2200" b="0" i="0" u="none" strike="noStrike" cap="none">
              <a:solidFill>
                <a:srgbClr val="000000"/>
              </a:solidFill>
              <a:latin typeface="Arial"/>
              <a:ea typeface="Arial"/>
              <a:cs typeface="Arial"/>
              <a:sym typeface="Arial"/>
            </a:endParaRPr>
          </a:p>
        </p:txBody>
      </p:sp>
      <p:sp>
        <p:nvSpPr>
          <p:cNvPr id="204" name="Google Shape;204;p8"/>
          <p:cNvSpPr/>
          <p:nvPr/>
        </p:nvSpPr>
        <p:spPr>
          <a:xfrm>
            <a:off x="7564874" y="4954786"/>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Size = 1500 sqft</a:t>
            </a:r>
            <a:endParaRPr sz="1550" b="0" i="0" u="none" strike="noStrike" cap="none">
              <a:solidFill>
                <a:srgbClr val="000000"/>
              </a:solidFill>
              <a:latin typeface="Arial"/>
              <a:ea typeface="Arial"/>
              <a:cs typeface="Arial"/>
              <a:sym typeface="Arial"/>
            </a:endParaRPr>
          </a:p>
        </p:txBody>
      </p:sp>
      <p:sp>
        <p:nvSpPr>
          <p:cNvPr id="205" name="Google Shape;205;p8"/>
          <p:cNvSpPr/>
          <p:nvPr/>
        </p:nvSpPr>
        <p:spPr>
          <a:xfrm>
            <a:off x="7564874" y="5282208"/>
            <a:ext cx="6279356" cy="258008"/>
          </a:xfrm>
          <a:prstGeom prst="rect">
            <a:avLst/>
          </a:prstGeom>
          <a:noFill/>
          <a:ln>
            <a:noFill/>
          </a:ln>
        </p:spPr>
        <p:txBody>
          <a:bodyPr spcFirstLastPara="1" wrap="square" lIns="0" tIns="0" rIns="0" bIns="0" anchor="t" anchorCtr="0">
            <a:noAutofit/>
          </a:bodyPr>
          <a:lstStyle/>
          <a:p>
            <a:pPr marL="342900" marR="0" lvl="0" indent="-342900" algn="l" rtl="0">
              <a:lnSpc>
                <a:spcPct val="129032"/>
              </a:lnSpc>
              <a:spcBef>
                <a:spcPts val="0"/>
              </a:spcBef>
              <a:spcAft>
                <a:spcPts val="0"/>
              </a:spcAft>
              <a:buClr>
                <a:srgbClr val="67534F"/>
              </a:buClr>
              <a:buSzPts val="1550"/>
              <a:buFont typeface="Montserrat"/>
              <a:buChar char="•"/>
            </a:pPr>
            <a:r>
              <a:rPr lang="en-US" sz="1550" b="0" i="0" u="none" strike="noStrike" cap="none">
                <a:solidFill>
                  <a:srgbClr val="67534F"/>
                </a:solidFill>
                <a:latin typeface="Montserrat"/>
                <a:ea typeface="Montserrat"/>
                <a:cs typeface="Montserrat"/>
                <a:sym typeface="Montserrat"/>
              </a:rPr>
              <a:t>Bedrooms = 3</a:t>
            </a:r>
            <a:endParaRPr sz="1550" b="0" i="0" u="none" strike="noStrike" cap="none">
              <a:solidFill>
                <a:srgbClr val="000000"/>
              </a:solidFill>
              <a:latin typeface="Arial"/>
              <a:ea typeface="Arial"/>
              <a:cs typeface="Arial"/>
              <a:sym typeface="Arial"/>
            </a:endParaRPr>
          </a:p>
        </p:txBody>
      </p:sp>
      <p:sp>
        <p:nvSpPr>
          <p:cNvPr id="206" name="Google Shape;206;p8"/>
          <p:cNvSpPr/>
          <p:nvPr/>
        </p:nvSpPr>
        <p:spPr>
          <a:xfrm>
            <a:off x="7564874" y="5718810"/>
            <a:ext cx="6279356" cy="1032034"/>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1" i="0" u="none" strike="noStrike" cap="none">
                <a:solidFill>
                  <a:srgbClr val="67534F"/>
                </a:solidFill>
                <a:latin typeface="Montserrat"/>
                <a:ea typeface="Montserrat"/>
                <a:cs typeface="Montserrat"/>
                <a:sym typeface="Montserrat"/>
              </a:rPr>
              <a:t>Prediction:</a:t>
            </a:r>
            <a:r>
              <a:rPr lang="en-US" sz="1550" b="0" i="0" u="none" strike="noStrike" cap="none">
                <a:solidFill>
                  <a:srgbClr val="67534F"/>
                </a:solidFill>
                <a:latin typeface="Montserrat"/>
                <a:ea typeface="Montserrat"/>
                <a:cs typeface="Montserrat"/>
                <a:sym typeface="Montserrat"/>
              </a:rPr>
              <a:t>20 + 0.05(1500) + 5(3)= 20 + 75 + 15= 110 lakh Tk</a:t>
            </a:r>
            <a:endParaRPr sz="1550" b="0" i="0" u="none" strike="noStrike" cap="none">
              <a:solidFill>
                <a:srgbClr val="000000"/>
              </a:solidFill>
              <a:latin typeface="Arial"/>
              <a:ea typeface="Arial"/>
              <a:cs typeface="Arial"/>
              <a:sym typeface="Arial"/>
            </a:endParaRPr>
          </a:p>
        </p:txBody>
      </p:sp>
      <p:sp>
        <p:nvSpPr>
          <p:cNvPr id="207" name="Google Shape;207;p8"/>
          <p:cNvSpPr/>
          <p:nvPr/>
        </p:nvSpPr>
        <p:spPr>
          <a:xfrm>
            <a:off x="793790" y="7152680"/>
            <a:ext cx="13042821" cy="516017"/>
          </a:xfrm>
          <a:prstGeom prst="rect">
            <a:avLst/>
          </a:prstGeom>
          <a:noFill/>
          <a:ln>
            <a:noFill/>
          </a:ln>
        </p:spPr>
        <p:txBody>
          <a:bodyPr spcFirstLastPara="1" wrap="square" lIns="0" tIns="0" rIns="0" bIns="0" anchor="t" anchorCtr="0">
            <a:noAutofit/>
          </a:bodyPr>
          <a:lstStyle/>
          <a:p>
            <a:pPr marL="0" marR="0" lvl="0" indent="0" algn="l" rtl="0">
              <a:lnSpc>
                <a:spcPct val="129032"/>
              </a:lnSpc>
              <a:spcBef>
                <a:spcPts val="0"/>
              </a:spcBef>
              <a:spcAft>
                <a:spcPts val="0"/>
              </a:spcAft>
              <a:buClr>
                <a:srgbClr val="67534F"/>
              </a:buClr>
              <a:buSzPts val="1550"/>
              <a:buFont typeface="Montserrat"/>
              <a:buNone/>
            </a:pPr>
            <a:r>
              <a:rPr lang="en-US" sz="1550" b="0" i="0" u="none" strike="noStrike" cap="none">
                <a:solidFill>
                  <a:srgbClr val="67534F"/>
                </a:solidFill>
                <a:latin typeface="Montserrat"/>
                <a:ea typeface="Montserrat"/>
                <a:cs typeface="Montserrat"/>
                <a:sym typeface="Montserrat"/>
              </a:rPr>
              <a:t>Each combination of features gives a point in space, and the model finds the plane that passes closest to all those points—that's the hyperplane!</a:t>
            </a:r>
            <a:endParaRPr sz="155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9"/>
          <p:cNvSpPr/>
          <p:nvPr/>
        </p:nvSpPr>
        <p:spPr>
          <a:xfrm>
            <a:off x="771644" y="531971"/>
            <a:ext cx="6628090" cy="721043"/>
          </a:xfrm>
          <a:prstGeom prst="rect">
            <a:avLst/>
          </a:prstGeom>
          <a:noFill/>
          <a:ln>
            <a:noFill/>
          </a:ln>
        </p:spPr>
        <p:txBody>
          <a:bodyPr spcFirstLastPara="1" wrap="square" lIns="0" tIns="0" rIns="0" bIns="0" anchor="t" anchorCtr="0">
            <a:noAutofit/>
          </a:bodyPr>
          <a:lstStyle/>
          <a:p>
            <a:pPr marL="0" marR="0" lvl="0" indent="0" algn="l" rtl="0">
              <a:lnSpc>
                <a:spcPct val="129884"/>
              </a:lnSpc>
              <a:spcBef>
                <a:spcPts val="0"/>
              </a:spcBef>
              <a:spcAft>
                <a:spcPts val="0"/>
              </a:spcAft>
              <a:buClr>
                <a:srgbClr val="532418"/>
              </a:buClr>
              <a:buSzPts val="4350"/>
              <a:buFont typeface="Marcellus"/>
              <a:buNone/>
            </a:pPr>
            <a:r>
              <a:rPr lang="en-US" sz="4350" b="0" i="0" u="none" strike="noStrike" cap="none">
                <a:solidFill>
                  <a:srgbClr val="532418"/>
                </a:solidFill>
                <a:latin typeface="Marcellus"/>
                <a:ea typeface="Marcellus"/>
                <a:cs typeface="Marcellus"/>
                <a:sym typeface="Marcellus"/>
              </a:rPr>
              <a:t>Visualizing the Hyperplane</a:t>
            </a:r>
            <a:endParaRPr sz="4350" b="0" i="0" u="none" strike="noStrike" cap="none">
              <a:solidFill>
                <a:srgbClr val="000000"/>
              </a:solidFill>
              <a:latin typeface="Arial"/>
              <a:ea typeface="Arial"/>
              <a:cs typeface="Arial"/>
              <a:sym typeface="Arial"/>
            </a:endParaRPr>
          </a:p>
        </p:txBody>
      </p:sp>
      <p:pic>
        <p:nvPicPr>
          <p:cNvPr id="214" name="Google Shape;214;p9" descr="preencoded.png"/>
          <p:cNvPicPr preferRelativeResize="0"/>
          <p:nvPr/>
        </p:nvPicPr>
        <p:blipFill rotWithShape="1">
          <a:blip r:embed="rId3">
            <a:alphaModFix/>
          </a:blip>
          <a:srcRect/>
          <a:stretch/>
        </p:blipFill>
        <p:spPr>
          <a:xfrm>
            <a:off x="771644" y="1759387"/>
            <a:ext cx="5101232" cy="5253394"/>
          </a:xfrm>
          <a:prstGeom prst="rect">
            <a:avLst/>
          </a:prstGeom>
          <a:noFill/>
          <a:ln>
            <a:noFill/>
          </a:ln>
        </p:spPr>
      </p:pic>
      <p:sp>
        <p:nvSpPr>
          <p:cNvPr id="215" name="Google Shape;215;p9"/>
          <p:cNvSpPr/>
          <p:nvPr/>
        </p:nvSpPr>
        <p:spPr>
          <a:xfrm>
            <a:off x="6744533" y="1715929"/>
            <a:ext cx="7121723" cy="501491"/>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67534F"/>
              </a:buClr>
              <a:buSzPts val="1500"/>
              <a:buFont typeface="Montserrat"/>
              <a:buNone/>
            </a:pPr>
            <a:r>
              <a:rPr lang="en-US" sz="1500" b="0" i="0" u="none" strike="noStrike" cap="none">
                <a:solidFill>
                  <a:srgbClr val="67534F"/>
                </a:solidFill>
                <a:latin typeface="Montserrat"/>
                <a:ea typeface="Montserrat"/>
                <a:cs typeface="Montserrat"/>
                <a:sym typeface="Montserrat"/>
              </a:rPr>
              <a:t>This 3D graph shows how Multiple Linear Regression works with two features (Size and Bedrooms) to predict house prices.</a:t>
            </a:r>
            <a:endParaRPr sz="1500" b="0" i="0" u="none" strike="noStrike" cap="none">
              <a:solidFill>
                <a:srgbClr val="000000"/>
              </a:solidFill>
              <a:latin typeface="Arial"/>
              <a:ea typeface="Arial"/>
              <a:cs typeface="Arial"/>
              <a:sym typeface="Arial"/>
            </a:endParaRPr>
          </a:p>
        </p:txBody>
      </p:sp>
      <p:sp>
        <p:nvSpPr>
          <p:cNvPr id="216" name="Google Shape;216;p9"/>
          <p:cNvSpPr/>
          <p:nvPr/>
        </p:nvSpPr>
        <p:spPr>
          <a:xfrm>
            <a:off x="6744533" y="2391013"/>
            <a:ext cx="7121723" cy="250746"/>
          </a:xfrm>
          <a:prstGeom prst="rect">
            <a:avLst/>
          </a:prstGeom>
          <a:noFill/>
          <a:ln>
            <a:noFill/>
          </a:ln>
        </p:spPr>
        <p:txBody>
          <a:bodyPr spcFirstLastPara="1" wrap="square" lIns="0" tIns="0" rIns="0" bIns="0" anchor="t" anchorCtr="0">
            <a:noAutofit/>
          </a:bodyPr>
          <a:lstStyle/>
          <a:p>
            <a:pPr marL="342900" marR="0" lvl="0" indent="-342900" algn="l" rtl="0">
              <a:lnSpc>
                <a:spcPct val="130000"/>
              </a:lnSpc>
              <a:spcBef>
                <a:spcPts val="0"/>
              </a:spcBef>
              <a:spcAft>
                <a:spcPts val="0"/>
              </a:spcAft>
              <a:buClr>
                <a:srgbClr val="67534F"/>
              </a:buClr>
              <a:buSzPts val="1500"/>
              <a:buFont typeface="Montserrat"/>
              <a:buChar char="•"/>
            </a:pPr>
            <a:r>
              <a:rPr lang="en-US" sz="1500" b="0" i="0" u="none" strike="noStrike" cap="none">
                <a:solidFill>
                  <a:srgbClr val="67534F"/>
                </a:solidFill>
                <a:latin typeface="Montserrat"/>
                <a:ea typeface="Montserrat"/>
                <a:cs typeface="Montserrat"/>
                <a:sym typeface="Montserrat"/>
              </a:rPr>
              <a:t>Each blue dot represents a real house with its actual price</a:t>
            </a:r>
            <a:endParaRPr sz="1500" b="0" i="0" u="none" strike="noStrike" cap="none">
              <a:solidFill>
                <a:srgbClr val="000000"/>
              </a:solidFill>
              <a:latin typeface="Arial"/>
              <a:ea typeface="Arial"/>
              <a:cs typeface="Arial"/>
              <a:sym typeface="Arial"/>
            </a:endParaRPr>
          </a:p>
        </p:txBody>
      </p:sp>
      <p:sp>
        <p:nvSpPr>
          <p:cNvPr id="217" name="Google Shape;217;p9"/>
          <p:cNvSpPr/>
          <p:nvPr/>
        </p:nvSpPr>
        <p:spPr>
          <a:xfrm>
            <a:off x="6744533" y="2709267"/>
            <a:ext cx="7121723" cy="501491"/>
          </a:xfrm>
          <a:prstGeom prst="rect">
            <a:avLst/>
          </a:prstGeom>
          <a:noFill/>
          <a:ln>
            <a:noFill/>
          </a:ln>
        </p:spPr>
        <p:txBody>
          <a:bodyPr spcFirstLastPara="1" wrap="square" lIns="0" tIns="0" rIns="0" bIns="0" anchor="t" anchorCtr="0">
            <a:noAutofit/>
          </a:bodyPr>
          <a:lstStyle/>
          <a:p>
            <a:pPr marL="342900" marR="0" lvl="0" indent="-342900" algn="l" rtl="0">
              <a:lnSpc>
                <a:spcPct val="130000"/>
              </a:lnSpc>
              <a:spcBef>
                <a:spcPts val="0"/>
              </a:spcBef>
              <a:spcAft>
                <a:spcPts val="0"/>
              </a:spcAft>
              <a:buClr>
                <a:srgbClr val="67534F"/>
              </a:buClr>
              <a:buSzPts val="1500"/>
              <a:buFont typeface="Montserrat"/>
              <a:buChar char="•"/>
            </a:pPr>
            <a:r>
              <a:rPr lang="en-US" sz="1500" b="0" i="0" u="none" strike="noStrike" cap="none">
                <a:solidFill>
                  <a:srgbClr val="67534F"/>
                </a:solidFill>
                <a:latin typeface="Montserrat"/>
                <a:ea typeface="Montserrat"/>
                <a:cs typeface="Montserrat"/>
                <a:sym typeface="Montserrat"/>
              </a:rPr>
              <a:t>The flat blue plane is the hyperplane—the model's best guess at the relationship</a:t>
            </a:r>
            <a:endParaRPr sz="1500" b="0" i="0" u="none" strike="noStrike" cap="none">
              <a:solidFill>
                <a:srgbClr val="000000"/>
              </a:solidFill>
              <a:latin typeface="Arial"/>
              <a:ea typeface="Arial"/>
              <a:cs typeface="Arial"/>
              <a:sym typeface="Arial"/>
            </a:endParaRPr>
          </a:p>
        </p:txBody>
      </p:sp>
      <p:sp>
        <p:nvSpPr>
          <p:cNvPr id="218" name="Google Shape;218;p9"/>
          <p:cNvSpPr/>
          <p:nvPr/>
        </p:nvSpPr>
        <p:spPr>
          <a:xfrm>
            <a:off x="6744533" y="3278267"/>
            <a:ext cx="7121723" cy="250746"/>
          </a:xfrm>
          <a:prstGeom prst="rect">
            <a:avLst/>
          </a:prstGeom>
          <a:noFill/>
          <a:ln>
            <a:noFill/>
          </a:ln>
        </p:spPr>
        <p:txBody>
          <a:bodyPr spcFirstLastPara="1" wrap="square" lIns="0" tIns="0" rIns="0" bIns="0" anchor="t" anchorCtr="0">
            <a:noAutofit/>
          </a:bodyPr>
          <a:lstStyle/>
          <a:p>
            <a:pPr marL="342900" marR="0" lvl="0" indent="-342900" algn="l" rtl="0">
              <a:lnSpc>
                <a:spcPct val="130000"/>
              </a:lnSpc>
              <a:spcBef>
                <a:spcPts val="0"/>
              </a:spcBef>
              <a:spcAft>
                <a:spcPts val="0"/>
              </a:spcAft>
              <a:buClr>
                <a:srgbClr val="67534F"/>
              </a:buClr>
              <a:buSzPts val="1500"/>
              <a:buFont typeface="Montserrat"/>
              <a:buChar char="•"/>
            </a:pPr>
            <a:r>
              <a:rPr lang="en-US" sz="1500" b="0" i="0" u="none" strike="noStrike" cap="none">
                <a:solidFill>
                  <a:srgbClr val="67534F"/>
                </a:solidFill>
                <a:latin typeface="Montserrat"/>
                <a:ea typeface="Montserrat"/>
                <a:cs typeface="Montserrat"/>
                <a:sym typeface="Montserrat"/>
              </a:rPr>
              <a:t>The plane tries to get as close as possible to all the dots</a:t>
            </a:r>
            <a:endParaRPr sz="1500" b="0" i="0" u="none" strike="noStrike" cap="none">
              <a:solidFill>
                <a:srgbClr val="000000"/>
              </a:solidFill>
              <a:latin typeface="Arial"/>
              <a:ea typeface="Arial"/>
              <a:cs typeface="Arial"/>
              <a:sym typeface="Arial"/>
            </a:endParaRPr>
          </a:p>
        </p:txBody>
      </p:sp>
      <p:sp>
        <p:nvSpPr>
          <p:cNvPr id="219" name="Google Shape;219;p9"/>
          <p:cNvSpPr/>
          <p:nvPr/>
        </p:nvSpPr>
        <p:spPr>
          <a:xfrm>
            <a:off x="6744533" y="3702606"/>
            <a:ext cx="7121723" cy="25074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500"/>
              <a:buFont typeface="Arial"/>
              <a:buNone/>
            </a:pPr>
            <a:endParaRPr sz="1500" b="0" i="0" u="none" strike="noStrike" cap="none">
              <a:solidFill>
                <a:srgbClr val="000000"/>
              </a:solidFill>
              <a:latin typeface="Arial"/>
              <a:ea typeface="Arial"/>
              <a:cs typeface="Arial"/>
              <a:sym typeface="Arial"/>
            </a:endParaRPr>
          </a:p>
        </p:txBody>
      </p:sp>
      <p:sp>
        <p:nvSpPr>
          <p:cNvPr id="220" name="Google Shape;220;p9"/>
          <p:cNvSpPr/>
          <p:nvPr/>
        </p:nvSpPr>
        <p:spPr>
          <a:xfrm>
            <a:off x="6744533" y="4126944"/>
            <a:ext cx="7121723" cy="25074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500"/>
              <a:buFont typeface="Arial"/>
              <a:buNone/>
            </a:pPr>
            <a:endParaRPr sz="1500" b="0" i="0" u="none" strike="noStrike" cap="none">
              <a:solidFill>
                <a:srgbClr val="000000"/>
              </a:solidFill>
              <a:latin typeface="Arial"/>
              <a:ea typeface="Arial"/>
              <a:cs typeface="Arial"/>
              <a:sym typeface="Arial"/>
            </a:endParaRPr>
          </a:p>
        </p:txBody>
      </p:sp>
      <p:sp>
        <p:nvSpPr>
          <p:cNvPr id="221" name="Google Shape;221;p9"/>
          <p:cNvSpPr/>
          <p:nvPr/>
        </p:nvSpPr>
        <p:spPr>
          <a:xfrm>
            <a:off x="6744533" y="4551283"/>
            <a:ext cx="7121723" cy="1002983"/>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67534F"/>
              </a:buClr>
              <a:buSzPts val="1500"/>
              <a:buFont typeface="Montserrat"/>
              <a:buNone/>
            </a:pPr>
            <a:r>
              <a:rPr lang="en-US" sz="1500" b="0" i="0" u="none" strike="noStrike" cap="none">
                <a:solidFill>
                  <a:srgbClr val="67534F"/>
                </a:solidFill>
                <a:latin typeface="Montserrat"/>
                <a:ea typeface="Montserrat"/>
                <a:cs typeface="Montserrat"/>
                <a:sym typeface="Montserrat"/>
              </a:rPr>
              <a:t>Think of it like this: if you know a house's size and number of bedrooms, you can find that spot on the plane and read off the predicted price. The model learned the perfect angle and position for this plane by studying all the real house data (the dots).</a:t>
            </a:r>
            <a:endParaRPr sz="1500" b="0" i="0" u="none" strike="noStrike" cap="none">
              <a:solidFill>
                <a:srgbClr val="000000"/>
              </a:solidFill>
              <a:latin typeface="Arial"/>
              <a:ea typeface="Arial"/>
              <a:cs typeface="Arial"/>
              <a:sym typeface="Arial"/>
            </a:endParaRPr>
          </a:p>
        </p:txBody>
      </p:sp>
      <p:sp>
        <p:nvSpPr>
          <p:cNvPr id="222" name="Google Shape;222;p9"/>
          <p:cNvSpPr/>
          <p:nvPr/>
        </p:nvSpPr>
        <p:spPr>
          <a:xfrm>
            <a:off x="771644" y="7446883"/>
            <a:ext cx="13087112" cy="25074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500"/>
              <a:buFont typeface="Arial"/>
              <a:buNone/>
            </a:pPr>
            <a:r>
              <a:rPr lang="en-US" sz="1500"/>
              <a:t> </a:t>
            </a:r>
            <a:endParaRPr sz="15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0"/>
          <p:cNvSpPr/>
          <p:nvPr/>
        </p:nvSpPr>
        <p:spPr>
          <a:xfrm>
            <a:off x="727829" y="500301"/>
            <a:ext cx="8293656" cy="680085"/>
          </a:xfrm>
          <a:prstGeom prst="rect">
            <a:avLst/>
          </a:prstGeom>
          <a:noFill/>
          <a:ln>
            <a:noFill/>
          </a:ln>
        </p:spPr>
        <p:txBody>
          <a:bodyPr spcFirstLastPara="1" wrap="square" lIns="0" tIns="0" rIns="0" bIns="0" anchor="t" anchorCtr="0">
            <a:noAutofit/>
          </a:bodyPr>
          <a:lstStyle/>
          <a:p>
            <a:pPr marL="0" marR="0" lvl="0" indent="0" algn="l" rtl="0">
              <a:lnSpc>
                <a:spcPct val="130487"/>
              </a:lnSpc>
              <a:spcBef>
                <a:spcPts val="0"/>
              </a:spcBef>
              <a:spcAft>
                <a:spcPts val="0"/>
              </a:spcAft>
              <a:buClr>
                <a:srgbClr val="532418"/>
              </a:buClr>
              <a:buSzPts val="4100"/>
              <a:buFont typeface="Marcellus"/>
              <a:buNone/>
            </a:pPr>
            <a:r>
              <a:rPr lang="en-US" sz="4100" b="0" i="0" u="none" strike="noStrike" cap="none">
                <a:solidFill>
                  <a:srgbClr val="532418"/>
                </a:solidFill>
                <a:latin typeface="Marcellus"/>
                <a:ea typeface="Marcellus"/>
                <a:cs typeface="Marcellus"/>
                <a:sym typeface="Marcellus"/>
              </a:rPr>
              <a:t>Building Our First Predictive Model</a:t>
            </a:r>
            <a:endParaRPr sz="4100" b="0" i="0" u="none" strike="noStrike" cap="none">
              <a:solidFill>
                <a:srgbClr val="000000"/>
              </a:solidFill>
              <a:latin typeface="Arial"/>
              <a:ea typeface="Arial"/>
              <a:cs typeface="Arial"/>
              <a:sym typeface="Arial"/>
            </a:endParaRPr>
          </a:p>
        </p:txBody>
      </p:sp>
      <p:sp>
        <p:nvSpPr>
          <p:cNvPr id="229" name="Google Shape;229;p10"/>
          <p:cNvSpPr/>
          <p:nvPr/>
        </p:nvSpPr>
        <p:spPr>
          <a:xfrm>
            <a:off x="727829" y="1453277"/>
            <a:ext cx="13174742" cy="236458"/>
          </a:xfrm>
          <a:prstGeom prst="rect">
            <a:avLst/>
          </a:prstGeom>
          <a:noFill/>
          <a:ln>
            <a:noFill/>
          </a:ln>
        </p:spPr>
        <p:txBody>
          <a:bodyPr spcFirstLastPara="1" wrap="square" lIns="0" tIns="0" rIns="0" bIns="0" anchor="t" anchorCtr="0">
            <a:noAutofit/>
          </a:bodyPr>
          <a:lstStyle/>
          <a:p>
            <a:pPr marL="0" marR="0" lvl="0" indent="0" algn="l" rtl="0">
              <a:lnSpc>
                <a:spcPct val="132142"/>
              </a:lnSpc>
              <a:spcBef>
                <a:spcPts val="0"/>
              </a:spcBef>
              <a:spcAft>
                <a:spcPts val="0"/>
              </a:spcAft>
              <a:buClr>
                <a:srgbClr val="67534F"/>
              </a:buClr>
              <a:buSzPts val="1400"/>
              <a:buFont typeface="Montserrat"/>
              <a:buNone/>
            </a:pPr>
            <a:r>
              <a:rPr lang="en-US" sz="1400" b="0" i="0" u="none" strike="noStrike" cap="none">
                <a:solidFill>
                  <a:srgbClr val="67534F"/>
                </a:solidFill>
                <a:latin typeface="Montserrat"/>
                <a:ea typeface="Montserrat"/>
                <a:cs typeface="Montserrat"/>
                <a:sym typeface="Montserrat"/>
              </a:rPr>
              <a:t>Time to apply what we've learned! Let's build our first predictive model step-by-step.</a:t>
            </a:r>
            <a:endParaRPr sz="1400" b="0" i="0" u="none" strike="noStrike" cap="none">
              <a:solidFill>
                <a:srgbClr val="000000"/>
              </a:solidFill>
              <a:latin typeface="Arial"/>
              <a:ea typeface="Arial"/>
              <a:cs typeface="Arial"/>
              <a:sym typeface="Arial"/>
            </a:endParaRPr>
          </a:p>
        </p:txBody>
      </p:sp>
      <p:sp>
        <p:nvSpPr>
          <p:cNvPr id="230" name="Google Shape;230;p10"/>
          <p:cNvSpPr/>
          <p:nvPr/>
        </p:nvSpPr>
        <p:spPr>
          <a:xfrm>
            <a:off x="727829" y="1894403"/>
            <a:ext cx="13174742" cy="1095137"/>
          </a:xfrm>
          <a:prstGeom prst="roundRect">
            <a:avLst>
              <a:gd name="adj" fmla="val 6979"/>
            </a:avLst>
          </a:prstGeom>
          <a:solidFill>
            <a:srgbClr val="FFFFF4">
              <a:alpha val="94509"/>
            </a:srgbClr>
          </a:solidFill>
          <a:ln w="22850" cap="flat" cmpd="sng">
            <a:solidFill>
              <a:srgbClr val="FFE0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10"/>
          <p:cNvSpPr/>
          <p:nvPr/>
        </p:nvSpPr>
        <p:spPr>
          <a:xfrm>
            <a:off x="750689" y="1917263"/>
            <a:ext cx="727829" cy="1049417"/>
          </a:xfrm>
          <a:prstGeom prst="roundRect">
            <a:avLst>
              <a:gd name="adj" fmla="val 6731"/>
            </a:avLst>
          </a:prstGeom>
          <a:solidFill>
            <a:srgbClr val="FFFF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10"/>
          <p:cNvSpPr/>
          <p:nvPr/>
        </p:nvSpPr>
        <p:spPr>
          <a:xfrm>
            <a:off x="970478" y="2264569"/>
            <a:ext cx="272891" cy="35480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7534F"/>
              </a:buClr>
              <a:buSzPts val="2100"/>
              <a:buFont typeface="Marcellus"/>
              <a:buNone/>
            </a:pPr>
            <a:r>
              <a:rPr lang="en-US" sz="2100" b="0" i="0" u="none" strike="noStrike" cap="none">
                <a:solidFill>
                  <a:srgbClr val="67534F"/>
                </a:solidFill>
                <a:latin typeface="Marcellus"/>
                <a:ea typeface="Marcellus"/>
                <a:cs typeface="Marcellus"/>
                <a:sym typeface="Marcellus"/>
              </a:rPr>
              <a:t>1</a:t>
            </a:r>
            <a:endParaRPr sz="2100" b="0" i="0" u="none" strike="noStrike" cap="none">
              <a:solidFill>
                <a:srgbClr val="000000"/>
              </a:solidFill>
              <a:latin typeface="Arial"/>
              <a:ea typeface="Arial"/>
              <a:cs typeface="Arial"/>
              <a:sym typeface="Arial"/>
            </a:endParaRPr>
          </a:p>
        </p:txBody>
      </p:sp>
      <p:sp>
        <p:nvSpPr>
          <p:cNvPr id="233" name="Google Shape;233;p10"/>
          <p:cNvSpPr/>
          <p:nvPr/>
        </p:nvSpPr>
        <p:spPr>
          <a:xfrm>
            <a:off x="1660446" y="2099191"/>
            <a:ext cx="2615684" cy="340043"/>
          </a:xfrm>
          <a:prstGeom prst="rect">
            <a:avLst/>
          </a:prstGeom>
          <a:noFill/>
          <a:ln>
            <a:noFill/>
          </a:ln>
        </p:spPr>
        <p:txBody>
          <a:bodyPr spcFirstLastPara="1" wrap="square" lIns="0" tIns="0" rIns="0" bIns="0" anchor="t" anchorCtr="0">
            <a:noAutofit/>
          </a:bodyPr>
          <a:lstStyle/>
          <a:p>
            <a:pPr marL="0" marR="0" lvl="0" indent="0" algn="l" rtl="0">
              <a:lnSpc>
                <a:spcPct val="129268"/>
              </a:lnSpc>
              <a:spcBef>
                <a:spcPts val="0"/>
              </a:spcBef>
              <a:spcAft>
                <a:spcPts val="0"/>
              </a:spcAft>
              <a:buClr>
                <a:srgbClr val="67534F"/>
              </a:buClr>
              <a:buSzPts val="2050"/>
              <a:buFont typeface="Marcellus"/>
              <a:buNone/>
            </a:pPr>
            <a:r>
              <a:rPr lang="en-US" sz="2050" b="0" i="0" u="none" strike="noStrike" cap="none">
                <a:solidFill>
                  <a:srgbClr val="67534F"/>
                </a:solidFill>
                <a:latin typeface="Marcellus"/>
                <a:ea typeface="Marcellus"/>
                <a:cs typeface="Marcellus"/>
                <a:sym typeface="Marcellus"/>
              </a:rPr>
              <a:t>Gather Data</a:t>
            </a:r>
            <a:endParaRPr sz="2050" b="0" i="0" u="none" strike="noStrike" cap="none">
              <a:solidFill>
                <a:srgbClr val="000000"/>
              </a:solidFill>
              <a:latin typeface="Arial"/>
              <a:ea typeface="Arial"/>
              <a:cs typeface="Arial"/>
              <a:sym typeface="Arial"/>
            </a:endParaRPr>
          </a:p>
        </p:txBody>
      </p:sp>
      <p:sp>
        <p:nvSpPr>
          <p:cNvPr id="234" name="Google Shape;234;p10"/>
          <p:cNvSpPr/>
          <p:nvPr/>
        </p:nvSpPr>
        <p:spPr>
          <a:xfrm>
            <a:off x="1660446" y="2548295"/>
            <a:ext cx="12037338" cy="236458"/>
          </a:xfrm>
          <a:prstGeom prst="rect">
            <a:avLst/>
          </a:prstGeom>
          <a:noFill/>
          <a:ln>
            <a:noFill/>
          </a:ln>
        </p:spPr>
        <p:txBody>
          <a:bodyPr spcFirstLastPara="1" wrap="square" lIns="0" tIns="0" rIns="0" bIns="0" anchor="t" anchorCtr="0">
            <a:noAutofit/>
          </a:bodyPr>
          <a:lstStyle/>
          <a:p>
            <a:pPr marL="0" marR="0" lvl="0" indent="0" algn="l" rtl="0">
              <a:lnSpc>
                <a:spcPct val="132142"/>
              </a:lnSpc>
              <a:spcBef>
                <a:spcPts val="0"/>
              </a:spcBef>
              <a:spcAft>
                <a:spcPts val="0"/>
              </a:spcAft>
              <a:buClr>
                <a:srgbClr val="67534F"/>
              </a:buClr>
              <a:buSzPts val="1400"/>
              <a:buFont typeface="Montserrat"/>
              <a:buNone/>
            </a:pPr>
            <a:r>
              <a:rPr lang="en-US" sz="1400" b="0" i="0" u="none" strike="noStrike" cap="none">
                <a:solidFill>
                  <a:srgbClr val="67534F"/>
                </a:solidFill>
                <a:latin typeface="Montserrat"/>
                <a:ea typeface="Montserrat"/>
                <a:cs typeface="Montserrat"/>
                <a:sym typeface="Montserrat"/>
              </a:rPr>
              <a:t>Collect all relevant information.</a:t>
            </a:r>
            <a:endParaRPr sz="1400" b="0" i="0" u="none" strike="noStrike" cap="none">
              <a:solidFill>
                <a:srgbClr val="000000"/>
              </a:solidFill>
              <a:latin typeface="Arial"/>
              <a:ea typeface="Arial"/>
              <a:cs typeface="Arial"/>
              <a:sym typeface="Arial"/>
            </a:endParaRPr>
          </a:p>
        </p:txBody>
      </p:sp>
      <p:sp>
        <p:nvSpPr>
          <p:cNvPr id="235" name="Google Shape;235;p10"/>
          <p:cNvSpPr/>
          <p:nvPr/>
        </p:nvSpPr>
        <p:spPr>
          <a:xfrm>
            <a:off x="727829" y="3171468"/>
            <a:ext cx="13174742" cy="1095137"/>
          </a:xfrm>
          <a:prstGeom prst="roundRect">
            <a:avLst>
              <a:gd name="adj" fmla="val 6979"/>
            </a:avLst>
          </a:prstGeom>
          <a:solidFill>
            <a:srgbClr val="FFFFF4">
              <a:alpha val="94509"/>
            </a:srgbClr>
          </a:solidFill>
          <a:ln w="22850" cap="flat" cmpd="sng">
            <a:solidFill>
              <a:srgbClr val="FFE0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10"/>
          <p:cNvSpPr/>
          <p:nvPr/>
        </p:nvSpPr>
        <p:spPr>
          <a:xfrm>
            <a:off x="750689" y="3194328"/>
            <a:ext cx="727829" cy="1049417"/>
          </a:xfrm>
          <a:prstGeom prst="roundRect">
            <a:avLst>
              <a:gd name="adj" fmla="val 6731"/>
            </a:avLst>
          </a:prstGeom>
          <a:solidFill>
            <a:srgbClr val="FFFF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10"/>
          <p:cNvSpPr/>
          <p:nvPr/>
        </p:nvSpPr>
        <p:spPr>
          <a:xfrm>
            <a:off x="970478" y="3541633"/>
            <a:ext cx="272891" cy="35480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7534F"/>
              </a:buClr>
              <a:buSzPts val="2100"/>
              <a:buFont typeface="Marcellus"/>
              <a:buNone/>
            </a:pPr>
            <a:r>
              <a:rPr lang="en-US" sz="2100" b="0" i="0" u="none" strike="noStrike" cap="none">
                <a:solidFill>
                  <a:srgbClr val="67534F"/>
                </a:solidFill>
                <a:latin typeface="Marcellus"/>
                <a:ea typeface="Marcellus"/>
                <a:cs typeface="Marcellus"/>
                <a:sym typeface="Marcellus"/>
              </a:rPr>
              <a:t>2</a:t>
            </a:r>
            <a:endParaRPr sz="2100" b="0" i="0" u="none" strike="noStrike" cap="none">
              <a:solidFill>
                <a:srgbClr val="000000"/>
              </a:solidFill>
              <a:latin typeface="Arial"/>
              <a:ea typeface="Arial"/>
              <a:cs typeface="Arial"/>
              <a:sym typeface="Arial"/>
            </a:endParaRPr>
          </a:p>
        </p:txBody>
      </p:sp>
      <p:sp>
        <p:nvSpPr>
          <p:cNvPr id="238" name="Google Shape;238;p10"/>
          <p:cNvSpPr/>
          <p:nvPr/>
        </p:nvSpPr>
        <p:spPr>
          <a:xfrm>
            <a:off x="1660446" y="3376255"/>
            <a:ext cx="2615684" cy="340043"/>
          </a:xfrm>
          <a:prstGeom prst="rect">
            <a:avLst/>
          </a:prstGeom>
          <a:noFill/>
          <a:ln>
            <a:noFill/>
          </a:ln>
        </p:spPr>
        <p:txBody>
          <a:bodyPr spcFirstLastPara="1" wrap="square" lIns="0" tIns="0" rIns="0" bIns="0" anchor="t" anchorCtr="0">
            <a:noAutofit/>
          </a:bodyPr>
          <a:lstStyle/>
          <a:p>
            <a:pPr marL="0" marR="0" lvl="0" indent="0" algn="l" rtl="0">
              <a:lnSpc>
                <a:spcPct val="129268"/>
              </a:lnSpc>
              <a:spcBef>
                <a:spcPts val="0"/>
              </a:spcBef>
              <a:spcAft>
                <a:spcPts val="0"/>
              </a:spcAft>
              <a:buClr>
                <a:srgbClr val="67534F"/>
              </a:buClr>
              <a:buSzPts val="2050"/>
              <a:buFont typeface="Marcellus"/>
              <a:buNone/>
            </a:pPr>
            <a:r>
              <a:rPr lang="en-US" sz="2050" b="0" i="0" u="none" strike="noStrike" cap="none">
                <a:solidFill>
                  <a:srgbClr val="67534F"/>
                </a:solidFill>
                <a:latin typeface="Marcellus"/>
                <a:ea typeface="Marcellus"/>
                <a:cs typeface="Marcellus"/>
                <a:sym typeface="Marcellus"/>
              </a:rPr>
              <a:t>Understand Data</a:t>
            </a:r>
            <a:endParaRPr sz="2050" b="0" i="0" u="none" strike="noStrike" cap="none">
              <a:solidFill>
                <a:srgbClr val="000000"/>
              </a:solidFill>
              <a:latin typeface="Arial"/>
              <a:ea typeface="Arial"/>
              <a:cs typeface="Arial"/>
              <a:sym typeface="Arial"/>
            </a:endParaRPr>
          </a:p>
        </p:txBody>
      </p:sp>
      <p:sp>
        <p:nvSpPr>
          <p:cNvPr id="239" name="Google Shape;239;p10"/>
          <p:cNvSpPr/>
          <p:nvPr/>
        </p:nvSpPr>
        <p:spPr>
          <a:xfrm>
            <a:off x="1660446" y="3825359"/>
            <a:ext cx="12037338" cy="236458"/>
          </a:xfrm>
          <a:prstGeom prst="rect">
            <a:avLst/>
          </a:prstGeom>
          <a:noFill/>
          <a:ln>
            <a:noFill/>
          </a:ln>
        </p:spPr>
        <p:txBody>
          <a:bodyPr spcFirstLastPara="1" wrap="square" lIns="0" tIns="0" rIns="0" bIns="0" anchor="t" anchorCtr="0">
            <a:noAutofit/>
          </a:bodyPr>
          <a:lstStyle/>
          <a:p>
            <a:pPr marL="0" marR="0" lvl="0" indent="0" algn="l" rtl="0">
              <a:lnSpc>
                <a:spcPct val="132142"/>
              </a:lnSpc>
              <a:spcBef>
                <a:spcPts val="0"/>
              </a:spcBef>
              <a:spcAft>
                <a:spcPts val="0"/>
              </a:spcAft>
              <a:buClr>
                <a:srgbClr val="67534F"/>
              </a:buClr>
              <a:buSzPts val="1400"/>
              <a:buFont typeface="Montserrat"/>
              <a:buNone/>
            </a:pPr>
            <a:r>
              <a:rPr lang="en-US" sz="1400" b="0" i="0" u="none" strike="noStrike" cap="none">
                <a:solidFill>
                  <a:srgbClr val="67534F"/>
                </a:solidFill>
                <a:latin typeface="Montserrat"/>
                <a:ea typeface="Montserrat"/>
                <a:cs typeface="Montserrat"/>
                <a:sym typeface="Montserrat"/>
              </a:rPr>
              <a:t>Examine trends and patterns.</a:t>
            </a:r>
            <a:endParaRPr sz="1400" b="0" i="0" u="none" strike="noStrike" cap="none">
              <a:solidFill>
                <a:srgbClr val="000000"/>
              </a:solidFill>
              <a:latin typeface="Arial"/>
              <a:ea typeface="Arial"/>
              <a:cs typeface="Arial"/>
              <a:sym typeface="Arial"/>
            </a:endParaRPr>
          </a:p>
        </p:txBody>
      </p:sp>
      <p:sp>
        <p:nvSpPr>
          <p:cNvPr id="240" name="Google Shape;240;p10"/>
          <p:cNvSpPr/>
          <p:nvPr/>
        </p:nvSpPr>
        <p:spPr>
          <a:xfrm>
            <a:off x="727829" y="4448532"/>
            <a:ext cx="13174742" cy="1095137"/>
          </a:xfrm>
          <a:prstGeom prst="roundRect">
            <a:avLst>
              <a:gd name="adj" fmla="val 6979"/>
            </a:avLst>
          </a:prstGeom>
          <a:solidFill>
            <a:srgbClr val="FFFFF4">
              <a:alpha val="94509"/>
            </a:srgbClr>
          </a:solidFill>
          <a:ln w="22850" cap="flat" cmpd="sng">
            <a:solidFill>
              <a:srgbClr val="FFE0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10"/>
          <p:cNvSpPr/>
          <p:nvPr/>
        </p:nvSpPr>
        <p:spPr>
          <a:xfrm>
            <a:off x="750689" y="4471392"/>
            <a:ext cx="727829" cy="1049417"/>
          </a:xfrm>
          <a:prstGeom prst="roundRect">
            <a:avLst>
              <a:gd name="adj" fmla="val 6731"/>
            </a:avLst>
          </a:prstGeom>
          <a:solidFill>
            <a:srgbClr val="FFFF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10"/>
          <p:cNvSpPr/>
          <p:nvPr/>
        </p:nvSpPr>
        <p:spPr>
          <a:xfrm>
            <a:off x="970478" y="4818698"/>
            <a:ext cx="272891" cy="35480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7534F"/>
              </a:buClr>
              <a:buSzPts val="2100"/>
              <a:buFont typeface="Marcellus"/>
              <a:buNone/>
            </a:pPr>
            <a:r>
              <a:rPr lang="en-US" sz="2100" b="0" i="0" u="none" strike="noStrike" cap="none">
                <a:solidFill>
                  <a:srgbClr val="67534F"/>
                </a:solidFill>
                <a:latin typeface="Marcellus"/>
                <a:ea typeface="Marcellus"/>
                <a:cs typeface="Marcellus"/>
                <a:sym typeface="Marcellus"/>
              </a:rPr>
              <a:t>3</a:t>
            </a:r>
            <a:endParaRPr sz="2100" b="0" i="0" u="none" strike="noStrike" cap="none">
              <a:solidFill>
                <a:srgbClr val="000000"/>
              </a:solidFill>
              <a:latin typeface="Arial"/>
              <a:ea typeface="Arial"/>
              <a:cs typeface="Arial"/>
              <a:sym typeface="Arial"/>
            </a:endParaRPr>
          </a:p>
        </p:txBody>
      </p:sp>
      <p:sp>
        <p:nvSpPr>
          <p:cNvPr id="243" name="Google Shape;243;p10"/>
          <p:cNvSpPr/>
          <p:nvPr/>
        </p:nvSpPr>
        <p:spPr>
          <a:xfrm>
            <a:off x="1660446" y="4653320"/>
            <a:ext cx="2615684" cy="340043"/>
          </a:xfrm>
          <a:prstGeom prst="rect">
            <a:avLst/>
          </a:prstGeom>
          <a:noFill/>
          <a:ln>
            <a:noFill/>
          </a:ln>
        </p:spPr>
        <p:txBody>
          <a:bodyPr spcFirstLastPara="1" wrap="square" lIns="0" tIns="0" rIns="0" bIns="0" anchor="t" anchorCtr="0">
            <a:noAutofit/>
          </a:bodyPr>
          <a:lstStyle/>
          <a:p>
            <a:pPr marL="0" marR="0" lvl="0" indent="0" algn="l" rtl="0">
              <a:lnSpc>
                <a:spcPct val="129268"/>
              </a:lnSpc>
              <a:spcBef>
                <a:spcPts val="0"/>
              </a:spcBef>
              <a:spcAft>
                <a:spcPts val="0"/>
              </a:spcAft>
              <a:buClr>
                <a:srgbClr val="67534F"/>
              </a:buClr>
              <a:buSzPts val="2050"/>
              <a:buFont typeface="Marcellus"/>
              <a:buNone/>
            </a:pPr>
            <a:r>
              <a:rPr lang="en-US" sz="2050" b="0" i="0" u="none" strike="noStrike" cap="none">
                <a:solidFill>
                  <a:srgbClr val="67534F"/>
                </a:solidFill>
                <a:latin typeface="Marcellus"/>
                <a:ea typeface="Marcellus"/>
                <a:cs typeface="Marcellus"/>
                <a:sym typeface="Marcellus"/>
              </a:rPr>
              <a:t>Organize Data</a:t>
            </a:r>
            <a:endParaRPr sz="2050" b="0" i="0" u="none" strike="noStrike" cap="none">
              <a:solidFill>
                <a:srgbClr val="000000"/>
              </a:solidFill>
              <a:latin typeface="Arial"/>
              <a:ea typeface="Arial"/>
              <a:cs typeface="Arial"/>
              <a:sym typeface="Arial"/>
            </a:endParaRPr>
          </a:p>
        </p:txBody>
      </p:sp>
      <p:sp>
        <p:nvSpPr>
          <p:cNvPr id="244" name="Google Shape;244;p10"/>
          <p:cNvSpPr/>
          <p:nvPr/>
        </p:nvSpPr>
        <p:spPr>
          <a:xfrm>
            <a:off x="1660446" y="5102423"/>
            <a:ext cx="12037338" cy="236458"/>
          </a:xfrm>
          <a:prstGeom prst="rect">
            <a:avLst/>
          </a:prstGeom>
          <a:noFill/>
          <a:ln>
            <a:noFill/>
          </a:ln>
        </p:spPr>
        <p:txBody>
          <a:bodyPr spcFirstLastPara="1" wrap="square" lIns="0" tIns="0" rIns="0" bIns="0" anchor="t" anchorCtr="0">
            <a:noAutofit/>
          </a:bodyPr>
          <a:lstStyle/>
          <a:p>
            <a:pPr marL="0" marR="0" lvl="0" indent="0" algn="l" rtl="0">
              <a:lnSpc>
                <a:spcPct val="132142"/>
              </a:lnSpc>
              <a:spcBef>
                <a:spcPts val="0"/>
              </a:spcBef>
              <a:spcAft>
                <a:spcPts val="0"/>
              </a:spcAft>
              <a:buClr>
                <a:srgbClr val="67534F"/>
              </a:buClr>
              <a:buSzPts val="1400"/>
              <a:buFont typeface="Montserrat"/>
              <a:buNone/>
            </a:pPr>
            <a:r>
              <a:rPr lang="en-US" sz="1400" b="0" i="0" u="none" strike="noStrike" cap="none">
                <a:solidFill>
                  <a:srgbClr val="67534F"/>
                </a:solidFill>
                <a:latin typeface="Montserrat"/>
                <a:ea typeface="Montserrat"/>
                <a:cs typeface="Montserrat"/>
                <a:sym typeface="Montserrat"/>
              </a:rPr>
              <a:t>Separate what to predict from what predicts it.</a:t>
            </a:r>
            <a:endParaRPr sz="1400" b="0" i="0" u="none" strike="noStrike" cap="none">
              <a:solidFill>
                <a:srgbClr val="000000"/>
              </a:solidFill>
              <a:latin typeface="Arial"/>
              <a:ea typeface="Arial"/>
              <a:cs typeface="Arial"/>
              <a:sym typeface="Arial"/>
            </a:endParaRPr>
          </a:p>
        </p:txBody>
      </p:sp>
      <p:sp>
        <p:nvSpPr>
          <p:cNvPr id="245" name="Google Shape;245;p10"/>
          <p:cNvSpPr/>
          <p:nvPr/>
        </p:nvSpPr>
        <p:spPr>
          <a:xfrm>
            <a:off x="727829" y="5725597"/>
            <a:ext cx="13174742" cy="1095137"/>
          </a:xfrm>
          <a:prstGeom prst="roundRect">
            <a:avLst>
              <a:gd name="adj" fmla="val 6979"/>
            </a:avLst>
          </a:prstGeom>
          <a:solidFill>
            <a:srgbClr val="FFFFF4">
              <a:alpha val="94509"/>
            </a:srgbClr>
          </a:solidFill>
          <a:ln w="22850" cap="flat" cmpd="sng">
            <a:solidFill>
              <a:srgbClr val="FFE0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0"/>
          <p:cNvSpPr/>
          <p:nvPr/>
        </p:nvSpPr>
        <p:spPr>
          <a:xfrm>
            <a:off x="750689" y="5748457"/>
            <a:ext cx="727829" cy="1049417"/>
          </a:xfrm>
          <a:prstGeom prst="roundRect">
            <a:avLst>
              <a:gd name="adj" fmla="val 6731"/>
            </a:avLst>
          </a:prstGeom>
          <a:solidFill>
            <a:srgbClr val="FFFF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0"/>
          <p:cNvSpPr/>
          <p:nvPr/>
        </p:nvSpPr>
        <p:spPr>
          <a:xfrm>
            <a:off x="970478" y="6095762"/>
            <a:ext cx="272891" cy="35480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7534F"/>
              </a:buClr>
              <a:buSzPts val="2100"/>
              <a:buFont typeface="Marcellus"/>
              <a:buNone/>
            </a:pPr>
            <a:r>
              <a:rPr lang="en-US" sz="2100" b="0" i="0" u="none" strike="noStrike" cap="none">
                <a:solidFill>
                  <a:srgbClr val="67534F"/>
                </a:solidFill>
                <a:latin typeface="Marcellus"/>
                <a:ea typeface="Marcellus"/>
                <a:cs typeface="Marcellus"/>
                <a:sym typeface="Marcellus"/>
              </a:rPr>
              <a:t>4</a:t>
            </a:r>
            <a:endParaRPr sz="2100" b="0" i="0" u="none" strike="noStrike" cap="none">
              <a:solidFill>
                <a:srgbClr val="000000"/>
              </a:solidFill>
              <a:latin typeface="Arial"/>
              <a:ea typeface="Arial"/>
              <a:cs typeface="Arial"/>
              <a:sym typeface="Arial"/>
            </a:endParaRPr>
          </a:p>
        </p:txBody>
      </p:sp>
      <p:sp>
        <p:nvSpPr>
          <p:cNvPr id="248" name="Google Shape;248;p10"/>
          <p:cNvSpPr/>
          <p:nvPr/>
        </p:nvSpPr>
        <p:spPr>
          <a:xfrm>
            <a:off x="1660446" y="5930384"/>
            <a:ext cx="2615684" cy="340043"/>
          </a:xfrm>
          <a:prstGeom prst="rect">
            <a:avLst/>
          </a:prstGeom>
          <a:noFill/>
          <a:ln>
            <a:noFill/>
          </a:ln>
        </p:spPr>
        <p:txBody>
          <a:bodyPr spcFirstLastPara="1" wrap="square" lIns="0" tIns="0" rIns="0" bIns="0" anchor="t" anchorCtr="0">
            <a:noAutofit/>
          </a:bodyPr>
          <a:lstStyle/>
          <a:p>
            <a:pPr marL="0" marR="0" lvl="0" indent="0" algn="l" rtl="0">
              <a:lnSpc>
                <a:spcPct val="129268"/>
              </a:lnSpc>
              <a:spcBef>
                <a:spcPts val="0"/>
              </a:spcBef>
              <a:spcAft>
                <a:spcPts val="0"/>
              </a:spcAft>
              <a:buClr>
                <a:srgbClr val="67534F"/>
              </a:buClr>
              <a:buSzPts val="2050"/>
              <a:buFont typeface="Marcellus"/>
              <a:buNone/>
            </a:pPr>
            <a:r>
              <a:rPr lang="en-US" sz="2050" b="0" i="0" u="none" strike="noStrike" cap="none">
                <a:solidFill>
                  <a:srgbClr val="67534F"/>
                </a:solidFill>
                <a:latin typeface="Marcellus"/>
                <a:ea typeface="Marcellus"/>
                <a:cs typeface="Marcellus"/>
                <a:sym typeface="Marcellus"/>
              </a:rPr>
              <a:t>Spot Connections</a:t>
            </a:r>
            <a:endParaRPr sz="2050" b="0" i="0" u="none" strike="noStrike" cap="none">
              <a:solidFill>
                <a:srgbClr val="000000"/>
              </a:solidFill>
              <a:latin typeface="Arial"/>
              <a:ea typeface="Arial"/>
              <a:cs typeface="Arial"/>
              <a:sym typeface="Arial"/>
            </a:endParaRPr>
          </a:p>
        </p:txBody>
      </p:sp>
      <p:sp>
        <p:nvSpPr>
          <p:cNvPr id="249" name="Google Shape;249;p10"/>
          <p:cNvSpPr/>
          <p:nvPr/>
        </p:nvSpPr>
        <p:spPr>
          <a:xfrm>
            <a:off x="1660446" y="6379488"/>
            <a:ext cx="12037338" cy="236458"/>
          </a:xfrm>
          <a:prstGeom prst="rect">
            <a:avLst/>
          </a:prstGeom>
          <a:noFill/>
          <a:ln>
            <a:noFill/>
          </a:ln>
        </p:spPr>
        <p:txBody>
          <a:bodyPr spcFirstLastPara="1" wrap="square" lIns="0" tIns="0" rIns="0" bIns="0" anchor="t" anchorCtr="0">
            <a:noAutofit/>
          </a:bodyPr>
          <a:lstStyle/>
          <a:p>
            <a:pPr marL="0" marR="0" lvl="0" indent="0" algn="l" rtl="0">
              <a:lnSpc>
                <a:spcPct val="132142"/>
              </a:lnSpc>
              <a:spcBef>
                <a:spcPts val="0"/>
              </a:spcBef>
              <a:spcAft>
                <a:spcPts val="0"/>
              </a:spcAft>
              <a:buClr>
                <a:srgbClr val="67534F"/>
              </a:buClr>
              <a:buSzPts val="1400"/>
              <a:buFont typeface="Montserrat"/>
              <a:buNone/>
            </a:pPr>
            <a:r>
              <a:rPr lang="en-US" sz="1400" b="0" i="0" u="none" strike="noStrike" cap="none">
                <a:solidFill>
                  <a:srgbClr val="67534F"/>
                </a:solidFill>
                <a:latin typeface="Montserrat"/>
                <a:ea typeface="Montserrat"/>
                <a:cs typeface="Montserrat"/>
                <a:sym typeface="Montserrat"/>
              </a:rPr>
              <a:t>See how variables relate to each other.</a:t>
            </a:r>
            <a:endParaRPr sz="1400" b="0" i="0" u="none" strike="noStrike" cap="none">
              <a:solidFill>
                <a:srgbClr val="000000"/>
              </a:solidFill>
              <a:latin typeface="Arial"/>
              <a:ea typeface="Arial"/>
              <a:cs typeface="Arial"/>
              <a:sym typeface="Arial"/>
            </a:endParaRPr>
          </a:p>
        </p:txBody>
      </p:sp>
      <p:sp>
        <p:nvSpPr>
          <p:cNvPr id="250" name="Google Shape;250;p10"/>
          <p:cNvSpPr/>
          <p:nvPr/>
        </p:nvSpPr>
        <p:spPr>
          <a:xfrm>
            <a:off x="727829" y="7025402"/>
            <a:ext cx="13174742" cy="718542"/>
          </a:xfrm>
          <a:prstGeom prst="roundRect">
            <a:avLst>
              <a:gd name="adj" fmla="val 10636"/>
            </a:avLst>
          </a:prstGeom>
          <a:solidFill>
            <a:srgbClr val="FFD1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1" name="Google Shape;251;p10" descr="preencoded.png"/>
          <p:cNvPicPr preferRelativeResize="0"/>
          <p:nvPr/>
        </p:nvPicPr>
        <p:blipFill rotWithShape="1">
          <a:blip r:embed="rId3">
            <a:alphaModFix/>
          </a:blip>
          <a:srcRect/>
          <a:stretch/>
        </p:blipFill>
        <p:spPr>
          <a:xfrm>
            <a:off x="909757" y="7276505"/>
            <a:ext cx="227409" cy="181928"/>
          </a:xfrm>
          <a:prstGeom prst="rect">
            <a:avLst/>
          </a:prstGeom>
          <a:noFill/>
          <a:ln>
            <a:noFill/>
          </a:ln>
        </p:spPr>
      </p:pic>
      <p:sp>
        <p:nvSpPr>
          <p:cNvPr id="252" name="Google Shape;252;p10"/>
          <p:cNvSpPr/>
          <p:nvPr/>
        </p:nvSpPr>
        <p:spPr>
          <a:xfrm>
            <a:off x="1319093" y="7252811"/>
            <a:ext cx="12401550" cy="236458"/>
          </a:xfrm>
          <a:prstGeom prst="rect">
            <a:avLst/>
          </a:prstGeom>
          <a:noFill/>
          <a:ln>
            <a:noFill/>
          </a:ln>
        </p:spPr>
        <p:txBody>
          <a:bodyPr spcFirstLastPara="1" wrap="square" lIns="0" tIns="0" rIns="0" bIns="0" anchor="t" anchorCtr="0">
            <a:noAutofit/>
          </a:bodyPr>
          <a:lstStyle/>
          <a:p>
            <a:pPr marL="0" marR="0" lvl="0" indent="0" algn="l" rtl="0">
              <a:lnSpc>
                <a:spcPct val="132142"/>
              </a:lnSpc>
              <a:spcBef>
                <a:spcPts val="0"/>
              </a:spcBef>
              <a:spcAft>
                <a:spcPts val="0"/>
              </a:spcAft>
              <a:buClr>
                <a:srgbClr val="000000"/>
              </a:buClr>
              <a:buSzPts val="1400"/>
              <a:buFont typeface="Montserrat"/>
              <a:buNone/>
            </a:pPr>
            <a:r>
              <a:rPr lang="en-US" sz="1400" b="1" i="0" u="none" strike="noStrike" cap="none">
                <a:solidFill>
                  <a:srgbClr val="000000"/>
                </a:solidFill>
                <a:latin typeface="Montserrat"/>
                <a:ea typeface="Montserrat"/>
                <a:cs typeface="Montserrat"/>
                <a:sym typeface="Montserrat"/>
              </a:rPr>
              <a:t>Ready to code?</a:t>
            </a:r>
            <a:r>
              <a:rPr lang="en-US" sz="1400" b="0" i="0" u="none" strike="noStrike" cap="none">
                <a:solidFill>
                  <a:srgbClr val="000000"/>
                </a:solidFill>
                <a:latin typeface="Montserrat"/>
                <a:ea typeface="Montserrat"/>
                <a:cs typeface="Montserrat"/>
                <a:sym typeface="Montserrat"/>
              </a:rPr>
              <a:t> Open your notebook and follow along to build a powerful predictive model!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1188</Words>
  <Application>Microsoft Office PowerPoint</Application>
  <PresentationFormat>Custom</PresentationFormat>
  <Paragraphs>125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Marcellus</vt:lpstr>
      <vt:lpstr>Arial</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Walid Bin Mohammed</cp:lastModifiedBy>
  <cp:revision>1</cp:revision>
  <dcterms:modified xsi:type="dcterms:W3CDTF">2026-08-31T16:06:47Z</dcterms:modified>
</cp:coreProperties>
</file>